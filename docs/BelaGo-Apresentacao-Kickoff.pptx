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0"/>
            <a:ext cx="73152" cy="685800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9144000" cy="3474720"/>
          </a:xfrm>
          <a:prstGeom prst="rect">
            <a:avLst/>
          </a:prstGeom>
          <a:solidFill>
            <a:srgbClr val="2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192024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1">
                <a:solidFill>
                  <a:srgbClr val="E8448A"/>
                </a:solidFill>
                <a:latin typeface="Georgia"/>
              </a:rPr>
              <a:t>BelaGo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834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C8AED8"/>
                </a:solidFill>
                <a:latin typeface="Calibri"/>
              </a:rPr>
              <a:t>O Uber da Beleza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4290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Apresentação de Kickoff — Reunião com a Cliente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9776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577A"/>
                </a:solidFill>
                <a:latin typeface="Calibri"/>
              </a:rPr>
              <a:t>Cronograma · Identidade Visual · Perguntas de Discovery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4663440"/>
            <a:ext cx="4572000" cy="4572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4800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77A"/>
                </a:solidFill>
                <a:latin typeface="Calibri"/>
              </a:rPr>
              <a:t>Desenvolvido por Gabriel Mendes Fortunato ·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6094476" cy="36576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4476" y="6492240"/>
            <a:ext cx="6094476" cy="36576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A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Agenda de Hoje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AED8"/>
                </a:solidFill>
                <a:latin typeface="Calibri"/>
              </a:rPr>
              <a:t>3 blocos · ~90 minutos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109728" cy="109728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737360"/>
            <a:ext cx="10789920" cy="1097280"/>
          </a:xfrm>
          <a:prstGeom prst="rect">
            <a:avLst/>
          </a:prstGeom>
          <a:solidFill>
            <a:srgbClr val="F5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448A"/>
                </a:solidFill>
                <a:latin typeface="Calibri"/>
              </a:rPr>
              <a:t>PARTE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8483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0E1B"/>
                </a:solidFill>
                <a:latin typeface="Calibri"/>
              </a:rPr>
              <a:t>Cronograma de Marcos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505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77A"/>
                </a:solidFill>
                <a:latin typeface="Calibri"/>
              </a:rPr>
              <a:t>4 fases · 17 semanas · marcos com critério de aceite + reuniões de acompanhamento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109728" cy="109728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3200400"/>
            <a:ext cx="10789920" cy="1097280"/>
          </a:xfrm>
          <a:prstGeom prst="rect">
            <a:avLst/>
          </a:prstGeom>
          <a:solidFill>
            <a:srgbClr val="F5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B5DE5"/>
                </a:solidFill>
                <a:latin typeface="Calibri"/>
              </a:rPr>
              <a:t>PARTE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4787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0E1B"/>
                </a:solidFill>
                <a:latin typeface="Calibri"/>
              </a:rPr>
              <a:t>Proposta de Identidade Visual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1363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77A"/>
                </a:solidFill>
                <a:latin typeface="Calibri"/>
              </a:rPr>
              <a:t>Paleta de cores · tipografia · logotipo · voz &amp; tom da marca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663440"/>
            <a:ext cx="109728" cy="1097280"/>
          </a:xfrm>
          <a:prstGeom prst="rect">
            <a:avLst/>
          </a:prstGeom>
          <a:solidFill>
            <a:srgbClr val="0DC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4663440"/>
            <a:ext cx="10789920" cy="1097280"/>
          </a:xfrm>
          <a:prstGeom prst="rect">
            <a:avLst/>
          </a:prstGeom>
          <a:solidFill>
            <a:srgbClr val="F5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54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C5A8"/>
                </a:solidFill>
                <a:latin typeface="Calibri"/>
              </a:rPr>
              <a:t>PARTE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1091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0E1B"/>
                </a:solidFill>
                <a:latin typeface="Calibri"/>
              </a:rPr>
              <a:t>Perguntas de 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7667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77A"/>
                </a:solidFill>
                <a:latin typeface="Calibri"/>
              </a:rPr>
              <a:t>7 categorias · 36+ perguntas · para alinhar necessidades reais antes de construir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6094476" cy="36576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4476" y="6492240"/>
            <a:ext cx="6094476" cy="36576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ED8"/>
                </a:solidFill>
                <a:latin typeface="Calibri"/>
              </a:rPr>
              <a:t>BelaGo · Apresentação Confidencial ·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AED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FF80B0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0116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ED8"/>
                </a:solidFill>
                <a:latin typeface="Calibri"/>
              </a:rPr>
              <a:t>PARTE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46888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Cronograma de
Marcos e Reuniões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42976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AED8"/>
                </a:solidFill>
                <a:latin typeface="Calibri"/>
              </a:rPr>
              <a:t>4 fases · 17 semanas · da descoberta ao lançamento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6094476" cy="36576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4476" y="6492240"/>
            <a:ext cx="6094476" cy="36576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Visão Geral — 4 Fases em 4 Meses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AED8"/>
                </a:solidFill>
                <a:latin typeface="Calibri"/>
              </a:rPr>
              <a:t>Cada fase tem aprovação formal antes de avançar — você sempre sabe onde estamos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2743200" cy="5120640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2743200" cy="50292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08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0116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0E1B"/>
                </a:solidFill>
                <a:latin typeface="Calibri"/>
              </a:rPr>
              <a:t>Descoberta &amp; 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448A"/>
                </a:solidFill>
                <a:latin typeface="Calibri"/>
              </a:rPr>
              <a:t>Semanas 1–4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880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77A"/>
                </a:solidFill>
                <a:latin typeface="Calibri"/>
              </a:rPr>
              <a:t>• Kickoff oficial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337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77A"/>
                </a:solidFill>
                <a:latin typeface="Calibri"/>
              </a:rPr>
              <a:t>• Definição de personas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794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77A"/>
                </a:solidFill>
                <a:latin typeface="Calibri"/>
              </a:rPr>
              <a:t>• Wireframes aprovados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251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77A"/>
                </a:solidFill>
                <a:latin typeface="Calibri"/>
              </a:rPr>
              <a:t>• Requisitos v1 assinados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18688" y="1463040"/>
            <a:ext cx="2743200" cy="5120640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18688" y="1463040"/>
            <a:ext cx="2743200" cy="50292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5848" y="1508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8416" y="20116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0E1B"/>
                </a:solidFill>
                <a:latin typeface="Calibri"/>
              </a:rPr>
              <a:t>Design de Interface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28416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DE5"/>
                </a:solidFill>
                <a:latin typeface="Calibri"/>
              </a:rPr>
              <a:t>Semanas 5–8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8416" y="2880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77A"/>
                </a:solidFill>
                <a:latin typeface="Calibri"/>
              </a:rPr>
              <a:t>• Design System finalizado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8416" y="3337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77A"/>
                </a:solidFill>
                <a:latin typeface="Calibri"/>
              </a:rPr>
              <a:t>• UI Cliente aprovada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28416" y="3794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77A"/>
                </a:solidFill>
                <a:latin typeface="Calibri"/>
              </a:rPr>
              <a:t>• UI Profissional aprovada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8416" y="4251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77A"/>
                </a:solidFill>
                <a:latin typeface="Calibri"/>
              </a:rPr>
              <a:t>• Protótipo validado com usuários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63056" y="1463040"/>
            <a:ext cx="2743200" cy="5120640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3056" y="1463040"/>
            <a:ext cx="2743200" cy="502920"/>
          </a:xfrm>
          <a:prstGeom prst="rect">
            <a:avLst/>
          </a:prstGeom>
          <a:solidFill>
            <a:srgbClr val="0DC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0216" y="1508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20116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0E1B"/>
                </a:solidFill>
                <a:latin typeface="Calibri"/>
              </a:rPr>
              <a:t>Desenvolvimento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2784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C5A8"/>
                </a:solidFill>
                <a:latin typeface="Calibri"/>
              </a:rPr>
              <a:t>Semanas 9–14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2784" y="2880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77A"/>
                </a:solidFill>
                <a:latin typeface="Calibri"/>
              </a:rPr>
              <a:t>• Backend + auth em staging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784" y="3337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77A"/>
                </a:solidFill>
                <a:latin typeface="Calibri"/>
              </a:rPr>
              <a:t>• Apps completos (cliente + prof.)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2784" y="3794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77A"/>
                </a:solidFill>
                <a:latin typeface="Calibri"/>
              </a:rPr>
              <a:t>• Integrações pagamento + mapa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4251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77A"/>
                </a:solidFill>
                <a:latin typeface="Calibri"/>
              </a:rPr>
              <a:t>• Fluxo E2E aprovado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07424" y="1463040"/>
            <a:ext cx="2743200" cy="5120640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07424" y="1463040"/>
            <a:ext cx="274320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44584" y="1508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FASE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7152" y="20116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0E1B"/>
                </a:solidFill>
                <a:latin typeface="Calibri"/>
              </a:rPr>
              <a:t>Testes &amp; Lançamento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7152" y="2514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Semanas 15–17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17152" y="2880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77A"/>
                </a:solidFill>
                <a:latin typeface="Calibri"/>
              </a:rPr>
              <a:t>• Beta fechado (20+ usuários)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7152" y="3337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77A"/>
                </a:solidFill>
                <a:latin typeface="Calibri"/>
              </a:rPr>
              <a:t>• QA e correções críticas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7152" y="3794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77A"/>
                </a:solidFill>
                <a:latin typeface="Calibri"/>
              </a:rPr>
              <a:t>• Submissão App Store + Play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17152" y="4251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77A"/>
                </a:solidFill>
                <a:latin typeface="Calibri"/>
              </a:rPr>
              <a:t>• 🚀 Lançamento público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6094476" cy="36576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94476" y="6492240"/>
            <a:ext cx="6094476" cy="36576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ED8"/>
                </a:solidFill>
                <a:latin typeface="Calibri"/>
              </a:rPr>
              <a:t>BelaGo · Apresentação Confidencial · 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AED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Marcos — Fase 1 e Fase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11612880" cy="365760"/>
          </a:xfrm>
          <a:prstGeom prst="rect">
            <a:avLst/>
          </a:prstGeom>
          <a:solidFill>
            <a:srgbClr val="1A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2984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Marco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3512" y="12984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Semana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5072" y="12984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Entregável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5592" y="12984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Critério de Aceite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91640"/>
            <a:ext cx="11612880" cy="457200"/>
          </a:xfrm>
          <a:prstGeom prst="rect">
            <a:avLst/>
          </a:prstGeom>
          <a:solidFill>
            <a:srgbClr val="F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691640"/>
            <a:ext cx="73152" cy="45720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7556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0E1B"/>
                </a:solidFill>
                <a:latin typeface="Calibri"/>
              </a:rPr>
              <a:t>Kickoff Oficial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75564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448A"/>
                </a:solidFill>
                <a:latin typeface="Calibri"/>
              </a:rPr>
              <a:t>Sem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40" y="17556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Reunião de alinhamento de visão, escopo e contrato assinado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75564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Ata de reunião assinada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67128"/>
            <a:ext cx="11612880" cy="457200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167128"/>
            <a:ext cx="73152" cy="45720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223113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0E1B"/>
                </a:solidFill>
                <a:latin typeface="Calibri"/>
              </a:rPr>
              <a:t>Personas definidas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23113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448A"/>
                </a:solidFill>
                <a:latin typeface="Calibri"/>
              </a:rPr>
              <a:t>Sem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40" y="223113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Documento com perfil da cliente ideal e da profissional ideal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2311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Cliente aprova as personas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642616"/>
            <a:ext cx="11612880" cy="457200"/>
          </a:xfrm>
          <a:prstGeom prst="rect">
            <a:avLst/>
          </a:prstGeom>
          <a:solidFill>
            <a:srgbClr val="F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642616"/>
            <a:ext cx="73152" cy="45720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27066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0E1B"/>
                </a:solidFill>
                <a:latin typeface="Calibri"/>
              </a:rPr>
              <a:t>Análise de concorrentes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270662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448A"/>
                </a:solidFill>
                <a:latin typeface="Calibri"/>
              </a:rPr>
              <a:t>Sem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40" y="270662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Relatório: Singu, Glam, BeautyDate — pontos fortes e fracos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70662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Apresentado em reunião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118104"/>
            <a:ext cx="11612880" cy="457200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3118104"/>
            <a:ext cx="73152" cy="45720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31821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0E1B"/>
                </a:solidFill>
                <a:latin typeface="Calibri"/>
              </a:rPr>
              <a:t>Wireframes aprovados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318211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448A"/>
                </a:solidFill>
                <a:latin typeface="Calibri"/>
              </a:rPr>
              <a:t>Sem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40" y="31821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Telas principais de baixa fidelidade no Figma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1821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Cliente aprova por escrito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593592"/>
            <a:ext cx="11612880" cy="457200"/>
          </a:xfrm>
          <a:prstGeom prst="rect">
            <a:avLst/>
          </a:prstGeom>
          <a:solidFill>
            <a:srgbClr val="F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3593592"/>
            <a:ext cx="73152" cy="45720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6576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0E1B"/>
                </a:solidFill>
                <a:latin typeface="Calibri"/>
              </a:rPr>
              <a:t>Requisitos v1 assinados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365760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448A"/>
                </a:solidFill>
                <a:latin typeface="Calibri"/>
              </a:rPr>
              <a:t>Sem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77640" y="36576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Documento de requisitos completo com MVP definido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36576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Assinatura da cliente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069080"/>
            <a:ext cx="11612880" cy="457200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4069080"/>
            <a:ext cx="73152" cy="45720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8" y="41330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0E1B"/>
                </a:solidFill>
                <a:latin typeface="Calibri"/>
              </a:rPr>
              <a:t>Design 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41330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B5DE5"/>
                </a:solidFill>
                <a:latin typeface="Calibri"/>
              </a:rPr>
              <a:t>Sem 5–6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77640" y="41330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Componentes, tokens de cor e tipografia no Figma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41330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Revisão e aprovação do time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544568"/>
            <a:ext cx="11612880" cy="457200"/>
          </a:xfrm>
          <a:prstGeom prst="rect">
            <a:avLst/>
          </a:prstGeom>
          <a:solidFill>
            <a:srgbClr val="F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" y="4544568"/>
            <a:ext cx="73152" cy="45720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6085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0E1B"/>
                </a:solidFill>
                <a:latin typeface="Calibri"/>
              </a:rPr>
              <a:t>UI Cliente aprovada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80" y="460857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B5DE5"/>
                </a:solidFill>
                <a:latin typeface="Calibri"/>
              </a:rPr>
              <a:t>Sem 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77640" y="46085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Todas as telas do app cliente em alta fidelidade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0" y="460857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Cliente aprova em reunião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020056"/>
            <a:ext cx="11612880" cy="457200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4320" y="5020056"/>
            <a:ext cx="73152" cy="45720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4048" y="50840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0E1B"/>
                </a:solidFill>
                <a:latin typeface="Calibri"/>
              </a:rPr>
              <a:t>UI Profissional aprovada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80" y="508406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B5DE5"/>
                </a:solidFill>
                <a:latin typeface="Calibri"/>
              </a:rPr>
              <a:t>Sem 7–8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77640" y="50840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Todas as telas do app da profissional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508406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Cliente aprova em reunião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5495544"/>
            <a:ext cx="11612880" cy="457200"/>
          </a:xfrm>
          <a:prstGeom prst="rect">
            <a:avLst/>
          </a:prstGeom>
          <a:solidFill>
            <a:srgbClr val="F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74320" y="5495544"/>
            <a:ext cx="73152" cy="45720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55595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0E1B"/>
                </a:solidFill>
                <a:latin typeface="Calibri"/>
              </a:rPr>
              <a:t>Protótipo validado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26080" y="555955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B5DE5"/>
                </a:solidFill>
                <a:latin typeface="Calibri"/>
              </a:rPr>
              <a:t>Sem 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77640" y="55595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Protótipo interativo testado com 5+ usuários reais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38160" y="55595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Taxa de conclusão ≥ 80%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92240"/>
            <a:ext cx="6094476" cy="36576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4476" y="6492240"/>
            <a:ext cx="6094476" cy="36576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ED8"/>
                </a:solidFill>
                <a:latin typeface="Calibri"/>
              </a:rPr>
              <a:t>BelaGo · Apresentação Confidencial · 2025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AED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Marcos — Fase 3 e Fase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11612880" cy="365760"/>
          </a:xfrm>
          <a:prstGeom prst="rect">
            <a:avLst/>
          </a:prstGeom>
          <a:solidFill>
            <a:srgbClr val="1A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2984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Marco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3512" y="12984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Semana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5072" y="12984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Entregável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5592" y="12984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Critério de Aceite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91640"/>
            <a:ext cx="11612880" cy="438912"/>
          </a:xfrm>
          <a:prstGeom prst="rect">
            <a:avLst/>
          </a:prstGeom>
          <a:solidFill>
            <a:srgbClr val="F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691640"/>
            <a:ext cx="73152" cy="438912"/>
          </a:xfrm>
          <a:prstGeom prst="rect">
            <a:avLst/>
          </a:prstGeom>
          <a:solidFill>
            <a:srgbClr val="0DC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74650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0E1B"/>
                </a:solidFill>
                <a:latin typeface="Calibri"/>
              </a:rPr>
              <a:t>Backend + 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74650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C5A8"/>
                </a:solidFill>
                <a:latin typeface="Calibri"/>
              </a:rPr>
              <a:t>Sem 9–10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40" y="1746504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577A"/>
                </a:solidFill>
                <a:latin typeface="Calibri"/>
              </a:rPr>
              <a:t>Servidor, banco de dados e autenticação em staging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74650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577A"/>
                </a:solidFill>
                <a:latin typeface="Calibri"/>
              </a:rPr>
              <a:t>Login funcional em ambiente de teste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48840"/>
            <a:ext cx="11612880" cy="438912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148840"/>
            <a:ext cx="73152" cy="438912"/>
          </a:xfrm>
          <a:prstGeom prst="rect">
            <a:avLst/>
          </a:prstGeom>
          <a:solidFill>
            <a:srgbClr val="0DC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220370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0E1B"/>
                </a:solidFill>
                <a:latin typeface="Calibri"/>
              </a:rPr>
              <a:t>Fluxo de agendamento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20370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C5A8"/>
                </a:solidFill>
                <a:latin typeface="Calibri"/>
              </a:rPr>
              <a:t>Sem 10–11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40" y="2203704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577A"/>
                </a:solidFill>
                <a:latin typeface="Calibri"/>
              </a:rPr>
              <a:t>Busca → perfil → data → pagamento → confirmação funcionando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20370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577A"/>
                </a:solidFill>
                <a:latin typeface="Calibri"/>
              </a:rPr>
              <a:t>Demo ao vivo para a cliente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606040"/>
            <a:ext cx="11612880" cy="438912"/>
          </a:xfrm>
          <a:prstGeom prst="rect">
            <a:avLst/>
          </a:prstGeom>
          <a:solidFill>
            <a:srgbClr val="F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606040"/>
            <a:ext cx="73152" cy="438912"/>
          </a:xfrm>
          <a:prstGeom prst="rect">
            <a:avLst/>
          </a:prstGeom>
          <a:solidFill>
            <a:srgbClr val="0DC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266090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0E1B"/>
                </a:solidFill>
                <a:latin typeface="Calibri"/>
              </a:rPr>
              <a:t>Integração Pagar.me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266090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C5A8"/>
                </a:solidFill>
                <a:latin typeface="Calibri"/>
              </a:rPr>
              <a:t>Sem 11–12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40" y="2660904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577A"/>
                </a:solidFill>
                <a:latin typeface="Calibri"/>
              </a:rPr>
              <a:t>Pix, cartão de crédito e split de pagamento operacionais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66090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577A"/>
                </a:solidFill>
                <a:latin typeface="Calibri"/>
              </a:rPr>
              <a:t>Transação real processada em staging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063240"/>
            <a:ext cx="11612880" cy="438912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3063240"/>
            <a:ext cx="73152" cy="438912"/>
          </a:xfrm>
          <a:prstGeom prst="rect">
            <a:avLst/>
          </a:prstGeom>
          <a:solidFill>
            <a:srgbClr val="0DC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311810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0E1B"/>
                </a:solidFill>
                <a:latin typeface="Calibri"/>
              </a:rPr>
              <a:t>Apps completos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311810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C5A8"/>
                </a:solidFill>
                <a:latin typeface="Calibri"/>
              </a:rPr>
              <a:t>Sem 12–13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40" y="3118104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577A"/>
                </a:solidFill>
                <a:latin typeface="Calibri"/>
              </a:rPr>
              <a:t>Todas as telas MVP do cliente e da profissional funcionais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11810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577A"/>
                </a:solidFill>
                <a:latin typeface="Calibri"/>
              </a:rPr>
              <a:t>QA interno zerado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520440"/>
            <a:ext cx="11612880" cy="438912"/>
          </a:xfrm>
          <a:prstGeom prst="rect">
            <a:avLst/>
          </a:prstGeom>
          <a:solidFill>
            <a:srgbClr val="F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3520440"/>
            <a:ext cx="73152" cy="438912"/>
          </a:xfrm>
          <a:prstGeom prst="rect">
            <a:avLst/>
          </a:prstGeom>
          <a:solidFill>
            <a:srgbClr val="0DC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57530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0E1B"/>
                </a:solidFill>
                <a:latin typeface="Calibri"/>
              </a:rPr>
              <a:t>Painel Admin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357530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C5A8"/>
                </a:solidFill>
                <a:latin typeface="Calibri"/>
              </a:rPr>
              <a:t>Sem 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77640" y="3575304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577A"/>
                </a:solidFill>
                <a:latin typeface="Calibri"/>
              </a:rPr>
              <a:t>Aprovação de perfis, gestão de taxas e relatórios básicos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357530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577A"/>
                </a:solidFill>
                <a:latin typeface="Calibri"/>
              </a:rPr>
              <a:t>Fluxo completo de aprovação testado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977639"/>
            <a:ext cx="11612880" cy="438912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3977639"/>
            <a:ext cx="73152" cy="438912"/>
          </a:xfrm>
          <a:prstGeom prst="rect">
            <a:avLst/>
          </a:prstGeom>
          <a:solidFill>
            <a:srgbClr val="0DC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8" y="4032503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0E1B"/>
                </a:solidFill>
                <a:latin typeface="Calibri"/>
              </a:rPr>
              <a:t>Demo ao vivo — Staging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4032503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C5A8"/>
                </a:solidFill>
                <a:latin typeface="Calibri"/>
              </a:rPr>
              <a:t>Sem 13–14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77640" y="4032503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577A"/>
                </a:solidFill>
                <a:latin typeface="Calibri"/>
              </a:rPr>
              <a:t>Demonstração com app real para a cliente testar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4032503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577A"/>
                </a:solidFill>
                <a:latin typeface="Calibri"/>
              </a:rPr>
              <a:t>Cliente usa e aprova para lançamento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434840"/>
            <a:ext cx="11612880" cy="438912"/>
          </a:xfrm>
          <a:prstGeom prst="rect">
            <a:avLst/>
          </a:prstGeom>
          <a:solidFill>
            <a:srgbClr val="F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" y="4434840"/>
            <a:ext cx="73152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448970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0E1B"/>
                </a:solidFill>
                <a:latin typeface="Calibri"/>
              </a:rPr>
              <a:t>Beta fechado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80" y="448970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  <a:latin typeface="Calibri"/>
              </a:rPr>
              <a:t>Sem 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77640" y="4489704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577A"/>
                </a:solidFill>
                <a:latin typeface="Calibri"/>
              </a:rPr>
              <a:t>20–30 usuários reais (clientes e profissionais) usando o app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0" y="448970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577A"/>
                </a:solidFill>
                <a:latin typeface="Calibri"/>
              </a:rPr>
              <a:t>Taxa de conclusão de agendamento ≥ 80%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4892040"/>
            <a:ext cx="11612880" cy="438912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4320" y="4892040"/>
            <a:ext cx="73152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4048" y="494690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0E1B"/>
                </a:solidFill>
                <a:latin typeface="Calibri"/>
              </a:rPr>
              <a:t>Correções QA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80" y="494690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  <a:latin typeface="Calibri"/>
              </a:rPr>
              <a:t>Sem 15–16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77640" y="4946904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577A"/>
                </a:solidFill>
                <a:latin typeface="Calibri"/>
              </a:rPr>
              <a:t>Todos os bugs críticos e bloqueantes resolvidos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94690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577A"/>
                </a:solidFill>
                <a:latin typeface="Calibri"/>
              </a:rPr>
              <a:t>Zero bugs críticos em aberto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5349240"/>
            <a:ext cx="11612880" cy="438912"/>
          </a:xfrm>
          <a:prstGeom prst="rect">
            <a:avLst/>
          </a:prstGeom>
          <a:solidFill>
            <a:srgbClr val="FF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74320" y="5349240"/>
            <a:ext cx="73152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8" y="540410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0E1B"/>
                </a:solidFill>
                <a:latin typeface="Calibri"/>
              </a:rPr>
              <a:t>Submissão nas lojas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26080" y="540410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  <a:latin typeface="Calibri"/>
              </a:rPr>
              <a:t>Sem 16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77640" y="5404104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577A"/>
                </a:solidFill>
                <a:latin typeface="Calibri"/>
              </a:rPr>
              <a:t>App submetido à App Store e Google Play com assets completos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38160" y="540410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577A"/>
                </a:solidFill>
                <a:latin typeface="Calibri"/>
              </a:rPr>
              <a:t>Aprovação pelas lojas (3–5 dias úteis)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5806440"/>
            <a:ext cx="11612880" cy="438912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74320" y="5806440"/>
            <a:ext cx="73152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84048" y="586130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0E1B"/>
                </a:solidFill>
                <a:latin typeface="Calibri"/>
              </a:rPr>
              <a:t>🚀 Lançamento Público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26080" y="586130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  <a:latin typeface="Calibri"/>
              </a:rPr>
              <a:t>Sem 17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77640" y="5861304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577A"/>
                </a:solidFill>
                <a:latin typeface="Calibri"/>
              </a:rPr>
              <a:t>App disponível para download — divulgação ativa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38160" y="586130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577A"/>
                </a:solidFill>
                <a:latin typeface="Calibri"/>
              </a:rPr>
              <a:t>Primeiros agendamentos reais realizados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492240"/>
            <a:ext cx="6094476" cy="36576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94476" y="6492240"/>
            <a:ext cx="6094476" cy="36576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ED8"/>
                </a:solidFill>
                <a:latin typeface="Calibri"/>
              </a:rPr>
              <a:t>BelaGo · Apresentação Confidencial · 2025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AED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Reuniões de Acompanhamento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AED8"/>
                </a:solidFill>
                <a:latin typeface="Calibri"/>
              </a:rPr>
              <a:t>Você sempre sabe onde estamos — sem surpresas no meio do projeto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577840" cy="2240280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577840" cy="45720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2646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Check-in Semanal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745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448A"/>
                </a:solidFill>
                <a:latin typeface="Calibri"/>
              </a:rPr>
              <a:t>Toda semana · 30 min · Videochamada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12848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77A"/>
                </a:solidFill>
                <a:latin typeface="Calibri"/>
              </a:rPr>
              <a:t>Status do andamento, o que foi feito, o que vem a seguir e bloqueios. Não é reunião de aprovação — é atualização rápida de status para todos ficarem alinhados.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577840" cy="2240280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577840" cy="45720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2646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Revisão de Fase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745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B5DE5"/>
                </a:solidFill>
                <a:latin typeface="Calibri"/>
              </a:rPr>
              <a:t>Fim de cada fase · 1h30–2h · Apresentação ao vivo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212848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77A"/>
                </a:solidFill>
                <a:latin typeface="Calibri"/>
              </a:rPr>
              <a:t>Revisão de todos os marcos da fase com demo quando aplicável. Resultado: aprovação formal por escrito antes de avançar para a próxima fase. A cliente tem poder de veto aqui.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840480"/>
            <a:ext cx="5577840" cy="2240280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840480"/>
            <a:ext cx="5577840" cy="457200"/>
          </a:xfrm>
          <a:prstGeom prst="rect">
            <a:avLst/>
          </a:prstGeom>
          <a:solidFill>
            <a:srgbClr val="0DC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8953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Demo ao Vivo — Staging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3434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C5A8"/>
                </a:solidFill>
                <a:latin typeface="Calibri"/>
              </a:rPr>
              <a:t>Semana 13–14 · 1h · App real nas mãos da cliente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681728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77A"/>
                </a:solidFill>
                <a:latin typeface="Calibri"/>
              </a:rPr>
              <a:t>A cliente testa o app completo em ambiente de staging: busca profissional, agenda, paga e recebe confirmação. Momento de coletar feedback antes do polish final e lançamento.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840480"/>
            <a:ext cx="5577840" cy="2240280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840480"/>
            <a:ext cx="557784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8953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Retrospectiva Pós-Lançamento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3434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  <a:latin typeface="Calibri"/>
              </a:rPr>
              <a:t>30 dias após o lançamento · 1h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681728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77A"/>
                </a:solidFill>
                <a:latin typeface="Calibri"/>
              </a:rPr>
              <a:t>Revisão das métricas reais: agendamentos, usuários ativos, taxa de conversão, erros. Priorização do roadmap da versão 2.0 com base em dados reais de uso.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6094476" cy="36576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4476" y="6492240"/>
            <a:ext cx="6094476" cy="36576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ED8"/>
                </a:solidFill>
                <a:latin typeface="Calibri"/>
              </a:rPr>
              <a:t>BelaGo · Apresentação Confidencial ·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AED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C090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0116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ED8"/>
                </a:solidFill>
                <a:latin typeface="Calibri"/>
              </a:rPr>
              <a:t>PARTE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46888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Proposta de
Identidade Visual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42976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AED8"/>
                </a:solidFill>
                <a:latin typeface="Calibri"/>
              </a:rPr>
              <a:t>Conceito · Paleta · Tipografia · Logotipo · Voz &amp; Tom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6094476" cy="36576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4476" y="6492240"/>
            <a:ext cx="6094476" cy="36576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2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0116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1">
                <a:solidFill>
                  <a:srgbClr val="E8448A"/>
                </a:solidFill>
                <a:latin typeface="Georgia"/>
              </a:rPr>
              <a:t>BelaGo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520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8AED8"/>
                </a:solidFill>
                <a:latin typeface="Calibri"/>
              </a:rPr>
              <a:t>O Uber da Beleza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1148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77A"/>
                </a:solidFill>
                <a:latin typeface="Calibri"/>
              </a:rPr>
              <a:t>Marketplace mobile de beleza
que conecta clientes com profissionais
autônomas verificadas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7315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Conceito da Marca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325880"/>
            <a:ext cx="1097280" cy="4572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0" y="1554480"/>
            <a:ext cx="73152" cy="82296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157276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448A"/>
                </a:solidFill>
                <a:latin typeface="Calibri"/>
              </a:rPr>
              <a:t>Simples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965960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77A"/>
                </a:solidFill>
                <a:latin typeface="Calibri"/>
              </a:rPr>
              <a:t>Agendar em menos de 60 segundos. Zero burocracia.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2651760"/>
            <a:ext cx="73152" cy="82296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2120" y="267004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B5DE5"/>
                </a:solidFill>
                <a:latin typeface="Calibri"/>
              </a:rPr>
              <a:t>Sofisticado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3063240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77A"/>
                </a:solidFill>
                <a:latin typeface="Calibri"/>
              </a:rPr>
              <a:t>Visual premium — não parece app de panfleto, parece Instagram da beleza.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3749039"/>
            <a:ext cx="73152" cy="822960"/>
          </a:xfrm>
          <a:prstGeom prst="rect">
            <a:avLst/>
          </a:prstGeom>
          <a:solidFill>
            <a:srgbClr val="0DC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3767327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C5A8"/>
                </a:solidFill>
                <a:latin typeface="Calibri"/>
              </a:rPr>
              <a:t>Seguro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4160519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77A"/>
                </a:solidFill>
                <a:latin typeface="Calibri"/>
              </a:rPr>
              <a:t>Toda profissional verificada. Pagamento protegido. Avaliações reais.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4846320"/>
            <a:ext cx="73152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2120" y="48646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Calibri"/>
              </a:rPr>
              <a:t>Próximo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5257800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77A"/>
                </a:solidFill>
                <a:latin typeface="Calibri"/>
              </a:rPr>
              <a:t>Tom amigável. A marca fala como uma amiga que entende de beleza.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5852160"/>
            <a:ext cx="6583680" cy="685800"/>
          </a:xfrm>
          <a:prstGeom prst="rect">
            <a:avLst/>
          </a:prstGeom>
          <a:solidFill>
            <a:srgbClr val="2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59436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E8448A"/>
                </a:solidFill>
                <a:latin typeface="Georgia"/>
              </a:rPr>
              <a:t>"Agende sua beleza em segundos."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6094476" cy="36576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4476" y="6492240"/>
            <a:ext cx="6094476" cy="36576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ED8"/>
                </a:solidFill>
                <a:latin typeface="Calibri"/>
              </a:rPr>
              <a:t>BelaGo · Apresentação Confidencial ·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AED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Paleta de Cores BelaGo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AED8"/>
                </a:solidFill>
                <a:latin typeface="Calibri"/>
              </a:rPr>
              <a:t>8 cores com papel definido — cada cor existe por um motivo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2743200" cy="100584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2057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#E8448A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377440"/>
            <a:ext cx="2743200" cy="1280160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4231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0E1B"/>
                </a:solidFill>
                <a:latin typeface="Calibri"/>
              </a:rPr>
              <a:t>Cor primária de ação.
Botões, CTAs, destaques.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0358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Energia · Feminilidade · Urgência positiva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1371600"/>
            <a:ext cx="2743200" cy="100584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64408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Violet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2057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#9B5DE5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2377440"/>
            <a:ext cx="2743200" cy="1280160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4231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0E1B"/>
                </a:solidFill>
                <a:latin typeface="Calibri"/>
              </a:rPr>
              <a:t>Sofisticação e tecnologia.
Gradiente com Rose.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0358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Premium · Confiança · Profundidade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1371600"/>
            <a:ext cx="2743200" cy="1005840"/>
          </a:xfrm>
          <a:prstGeom prst="rect">
            <a:avLst/>
          </a:prstGeom>
          <a:solidFill>
            <a:srgbClr val="0DC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0488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Teal Spark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2057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#0DC5A8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2377440"/>
            <a:ext cx="2743200" cy="1280160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24231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0E1B"/>
                </a:solidFill>
                <a:latin typeface="Calibri"/>
              </a:rPr>
              <a:t>Confirmações e sucesso.
'Agendado!', check marks.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0358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Confiança · Aprovação · Calma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1371600"/>
            <a:ext cx="2743200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6568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Amber Flash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8" y="2057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#F5A623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2377440"/>
            <a:ext cx="2743200" cy="1280160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80" y="24231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0E1B"/>
                </a:solidFill>
                <a:latin typeface="Calibri"/>
              </a:rPr>
              <a:t>Urgência e promoções.
'Disponível AGORA!'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30358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Oportunidade · Rapidez · Atenção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840480"/>
            <a:ext cx="2743200" cy="1005840"/>
          </a:xfrm>
          <a:prstGeom prst="rect">
            <a:avLst/>
          </a:prstGeom>
          <a:solidFill>
            <a:srgbClr val="1A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" y="4069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Plum Night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#1A0E1B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4846320"/>
            <a:ext cx="2743200" cy="1280160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48920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0E1B"/>
                </a:solidFill>
                <a:latin typeface="Calibri"/>
              </a:rPr>
              <a:t>Texto principal e
fundo escuro premium.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55046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Seriedade · Elegância · Autoridade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54680" y="3840480"/>
            <a:ext cx="2743200" cy="1005840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64408" y="4069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Blush White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64408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#FEFCFD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54680" y="4846320"/>
            <a:ext cx="2743200" cy="1280160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46120" y="48920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0E1B"/>
                </a:solidFill>
                <a:latin typeface="Calibri"/>
              </a:rPr>
              <a:t>Fundo claro. Nunca
branco puro — tem calor rosado.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6120" y="55046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Leveza · Acolhimento · Feminino suave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3840480"/>
            <a:ext cx="2743200" cy="1005840"/>
          </a:xfrm>
          <a:prstGeom prst="rect">
            <a:avLst/>
          </a:prstGeom>
          <a:solidFill>
            <a:srgbClr val="C8A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90488" y="4069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Lilac Mist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90488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#C8AED8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4846320"/>
            <a:ext cx="2743200" cy="1280160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48920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0E1B"/>
                </a:solidFill>
                <a:latin typeface="Calibri"/>
              </a:rPr>
              <a:t>Bordas, textos
secundários, detalhes.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55046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Suavidade · Elegância · Sutileza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06840" y="3840480"/>
            <a:ext cx="2743200" cy="1005840"/>
          </a:xfrm>
          <a:prstGeom prst="rect">
            <a:avLst/>
          </a:prstGeom>
          <a:solidFill>
            <a:srgbClr val="E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16568" y="4069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Alert Red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16568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#E55555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06840" y="4846320"/>
            <a:ext cx="2743200" cy="1280160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98280" y="48920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0E1B"/>
                </a:solidFill>
                <a:latin typeface="Calibri"/>
              </a:rPr>
              <a:t>Erros e cancelamentos.
Uso mínimo.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98280" y="55046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Atenção · Problema · Cancelamento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492240"/>
            <a:ext cx="6094476" cy="36576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094476" y="6492240"/>
            <a:ext cx="6094476" cy="36576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ED8"/>
                </a:solidFill>
                <a:latin typeface="Calibri"/>
              </a:rPr>
              <a:t>BelaGo · Apresentação Confidencial · 2025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AED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Tipografia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5303520" cy="5212080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303520" cy="41148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533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DISPLAY — Georgia Itálica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1">
                <a:solidFill>
                  <a:srgbClr val="E8448A"/>
                </a:solidFill>
                <a:latin typeface="Georgia"/>
              </a:rPr>
              <a:t>BelaGo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1A0E1B"/>
                </a:solidFill>
                <a:latin typeface="Georgia"/>
              </a:rPr>
              <a:t>Agende sua beleza em segundos.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291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77A"/>
                </a:solidFill>
                <a:latin typeface="Calibri"/>
              </a:rPr>
              <a:t>• Logo e wordmark da marca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6758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77A"/>
                </a:solidFill>
                <a:latin typeface="Calibri"/>
              </a:rPr>
              <a:t>• Títulos de tela no app (h1)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599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77A"/>
                </a:solidFill>
                <a:latin typeface="Calibri"/>
              </a:rPr>
              <a:t>• Citações e momentos de destaque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4439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577A"/>
                </a:solidFill>
                <a:latin typeface="Calibri"/>
              </a:rPr>
              <a:t>• Slogans em materiais de marketing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325880"/>
            <a:ext cx="5760720" cy="5212080"/>
          </a:xfrm>
          <a:prstGeom prst="rect">
            <a:avLst/>
          </a:prstGeom>
          <a:solidFill>
            <a:srgbClr val="FF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325880"/>
            <a:ext cx="5760720" cy="41148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3533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INTERFACE — DM Sans / System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288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Semibold 600 · 22pt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103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0E1B"/>
                </a:solidFill>
                <a:latin typeface="Calibri"/>
              </a:rPr>
              <a:t>Fernanda Costa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6060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Regular 400 · 14pt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880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0E1B"/>
                </a:solidFill>
                <a:latin typeface="Calibri"/>
              </a:rPr>
              <a:t>Escova · Penteado · Unhas · Maquiagem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3832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Bold 700 · 16pt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657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0E1B"/>
                </a:solidFill>
                <a:latin typeface="Calibri"/>
              </a:rPr>
              <a:t>R$ 89,00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1605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Regular 400 · 12pt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434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0E1B"/>
                </a:solidFill>
                <a:latin typeface="Calibri"/>
              </a:rPr>
              <a:t>Disponível hoje às 16h, 17h30 e 18h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02920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448A"/>
                </a:solidFill>
                <a:latin typeface="Calibri"/>
              </a:rPr>
              <a:t>Regra de ouro: Georgia aparece sozinha ou ao lado de
DM Sans — nunca misturada com outra fonte serif.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6094476" cy="36576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4476" y="6492240"/>
            <a:ext cx="6094476" cy="36576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ED8"/>
                </a:solidFill>
                <a:latin typeface="Calibri"/>
              </a:rPr>
              <a:t>BelaGo · Apresentação Confidencial ·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AED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Voz &amp; Tom · Próximos Passos de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5486400" cy="5212080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B5DE5"/>
                </a:solidFill>
                <a:latin typeface="Calibri"/>
              </a:rPr>
              <a:t>VOZ &amp; TOM DA MARCA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83080"/>
            <a:ext cx="155448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8196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Próxima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1783080"/>
            <a:ext cx="155448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1992" y="18196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Direta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6200" y="1783080"/>
            <a:ext cx="155448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9352" y="18196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Confiável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240280"/>
            <a:ext cx="155448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22768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Animada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48840" y="2240280"/>
            <a:ext cx="1554480" cy="347472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21992" y="22768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Sofisticada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7889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C5A8"/>
                </a:solidFill>
                <a:latin typeface="Calibri"/>
              </a:rPr>
              <a:t>CERTO ✓ vs ERRADO 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12724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C5A8"/>
                </a:solidFill>
                <a:latin typeface="Calibri"/>
              </a:rPr>
              <a:t>✓ 'Fernanda está disponível hoje às 18h. Confirmar?'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3832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577A"/>
                </a:solidFill>
                <a:latin typeface="Calibri"/>
              </a:rPr>
              <a:t>✗ 'Sua solicitação foi processada com sucesso.'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72160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C5A8"/>
                </a:solidFill>
                <a:latin typeface="Calibri"/>
              </a:rPr>
              <a:t>✓ 'Oba! Agendamento confirmado com a Ana 💄'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9776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577A"/>
                </a:solidFill>
                <a:latin typeface="Calibri"/>
              </a:rPr>
              <a:t>✗ 'Transação concluída. Referência #00482.'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3159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C5A8"/>
                </a:solidFill>
                <a:latin typeface="Calibri"/>
              </a:rPr>
              <a:t>✓ 'Que tal aproveitar? A Camila tem horário agora!'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5720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577A"/>
                </a:solidFill>
                <a:latin typeface="Calibri"/>
              </a:rPr>
              <a:t>✗ 'Horário disponível identificado nas proximidades.'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325880"/>
            <a:ext cx="5760720" cy="5212080"/>
          </a:xfrm>
          <a:prstGeom prst="rect">
            <a:avLst/>
          </a:prstGeom>
          <a:solidFill>
            <a:srgbClr val="FF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1417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448A"/>
                </a:solidFill>
                <a:latin typeface="Calibri"/>
              </a:rPr>
              <a:t>PRÓXIMOS PASSOS DE DESIGN (Semanas 5–8)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938528"/>
            <a:ext cx="73152" cy="32004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9019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0E1B"/>
                </a:solidFill>
                <a:latin typeface="Calibri"/>
              </a:rPr>
              <a:t>Design System completo no Figma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176272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Componentes, tokens, ícones e estilos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578608"/>
            <a:ext cx="73152" cy="32004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54203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0E1B"/>
                </a:solidFill>
                <a:latin typeface="Calibri"/>
              </a:rPr>
              <a:t>UI Cliente — todas as telas MVP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816352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Alta fidelidade, pronto para desenvolvimento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218688"/>
            <a:ext cx="73152" cy="32004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18211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0E1B"/>
                </a:solidFill>
                <a:latin typeface="Calibri"/>
              </a:rPr>
              <a:t>UI Profissional — todas as telas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456432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Fluxo de cadastro, agenda e financeiro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858767"/>
            <a:ext cx="73152" cy="32004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822191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0E1B"/>
                </a:solidFill>
                <a:latin typeface="Calibri"/>
              </a:rPr>
              <a:t>Ícone do app (1024×1024px)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096511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Variantes para App Store e Google Play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4498848"/>
            <a:ext cx="73152" cy="32004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46227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0E1B"/>
                </a:solidFill>
                <a:latin typeface="Calibri"/>
              </a:rPr>
              <a:t>Assets de loja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736592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Screenshots, textos e banners nas lojas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5138928"/>
            <a:ext cx="73152" cy="32004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51023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0E1B"/>
                </a:solidFill>
                <a:latin typeface="Calibri"/>
              </a:rPr>
              <a:t>Kit de marca para a cliente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5376672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Fontes, logos e cores para redes sociais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5779007"/>
            <a:ext cx="73152" cy="320040"/>
          </a:xfrm>
          <a:prstGeom prst="rect">
            <a:avLst/>
          </a:prstGeom>
          <a:solidFill>
            <a:srgbClr val="0DC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5742431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0E1B"/>
                </a:solidFill>
                <a:latin typeface="Calibri"/>
              </a:rPr>
              <a:t>Guia de onboarding visual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6016751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Para as primeiras profissionais cadastradas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92240"/>
            <a:ext cx="6094476" cy="36576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94476" y="6492240"/>
            <a:ext cx="6094476" cy="36576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ED8"/>
                </a:solidFill>
                <a:latin typeface="Calibri"/>
              </a:rPr>
              <a:t>BelaGo · Apresentação Confidencial · 2025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AED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DC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50E8D0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0116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AED8"/>
                </a:solidFill>
                <a:latin typeface="Calibri"/>
              </a:rPr>
              <a:t>PARTE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46888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Perguntas de
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42976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AED8"/>
                </a:solidFill>
                <a:latin typeface="Calibri"/>
              </a:rPr>
              <a:t>7 categorias · 36+ perguntas · alinhando necessidades reais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6094476" cy="36576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4476" y="6492240"/>
            <a:ext cx="6094476" cy="36576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Perguntas de Discovery — Negócio &amp; Usuários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5486400" cy="5212080"/>
          </a:xfrm>
          <a:prstGeom prst="rect">
            <a:avLst/>
          </a:prstGeom>
          <a:solidFill>
            <a:srgbClr val="FF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486400" cy="41148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533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  ·  NEGÓCIO &amp; MODELO DE RECEITA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0E1B"/>
                </a:solidFill>
                <a:latin typeface="Calibri"/>
              </a:rPr>
              <a:t>1. Qual percentual de comissão você imagina cobrar das profissionais — e já fez simulações de quanto você precisaria faturar para cobrir os custos de infraestrutura?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31720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Define se o modelo é viável. 10% vs 20% muda a precificação e o pitch para profissionais.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06040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0E1B"/>
                </a:solidFill>
                <a:latin typeface="Calibri"/>
              </a:rPr>
              <a:t>2. Além da comissão, você pensou em uma assinatura mensal para profissionais que querem mais visibilidade?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08960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Modelos múltiplos de receita reduzem risco — importante decidir antes do MVP.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383280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0E1B"/>
                </a:solidFill>
                <a:latin typeface="Calibri"/>
              </a:rPr>
              <a:t>3. Você tem alguma operação manual hoje (WhatsApp, planilha, indicação) que o app vai substituir?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886200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Pode acelerar o onboarding: transportar agenda existente para o app no lançamento.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160520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0E1B"/>
                </a:solidFill>
                <a:latin typeface="Calibri"/>
              </a:rPr>
              <a:t>4. Qual é sua meta de profissionais cadastradas nos primeiros 30 dias de lançamento?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663440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Define escala do beta e estratégia de marketing pré-lançamento.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937760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0E1B"/>
                </a:solidFill>
                <a:latin typeface="Calibri"/>
              </a:rPr>
              <a:t>5. Você já tem parceiros ou investidores envolvidos no projeto?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440680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Pode haver exigências de relatórios, prazos ou identidade que impactam o desenvolvimento.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715000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0E1B"/>
                </a:solidFill>
                <a:latin typeface="Calibri"/>
              </a:rPr>
              <a:t>6. Qual é a sua estratégia para os primeiros agendamentos — para garantir experiência impecável no começo?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217920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Primeiros 50 agendamentos definem a reputação do app. Pode exigir moderação manual inicial.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325880"/>
            <a:ext cx="5760720" cy="5212080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325880"/>
            <a:ext cx="5760720" cy="41148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3533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  ·  USUÁRIOS &amp; PERSONAS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828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0E1B"/>
                </a:solidFill>
                <a:latin typeface="Calibri"/>
              </a:rPr>
              <a:t>1. Como é a profissional ideal para o BelaGo — autônoma que atende em domicílio, profissional com espaço próprio, ou as duas?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3774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Define dois fluxos diferentes de agendamento (endereço do cliente vs endereço da profissional).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743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0E1B"/>
                </a:solidFill>
                <a:latin typeface="Calibri"/>
              </a:rPr>
              <a:t>2. Qual é o perfil da sua cliente ideal — faixa etária, renda, bairro, frequência que agenda serviços?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291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Define onde investir em marketing e qual tom de comunicação usar no app.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657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0E1B"/>
                </a:solidFill>
                <a:latin typeface="Calibri"/>
              </a:rPr>
              <a:t>3. Você já fez alguma validação de demanda — pesquisa, entrevistas, grupo focal?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2062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Se sim, esses dados informam as prioridades do MVP. Se não, o beta fechado é ainda mais crítico.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5720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0E1B"/>
                </a:solidFill>
                <a:latin typeface="Calibri"/>
              </a:rPr>
              <a:t>4. A cliente pode agendar um serviço para outra pessoa (filha, mãe, amiga)?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1206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Adiciona complexidade: perfil de quem recebe vs quem paga. Pode ficar para v2.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4864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0E1B"/>
                </a:solidFill>
                <a:latin typeface="Calibri"/>
              </a:rPr>
              <a:t>5. Como você planeja lidar com profissionais que acumulam avaliações negativas consecutivas?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60350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Precisa de lógica de suspensão automática ou revisão manual — impacta o painel admin.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6094476" cy="36576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94476" y="6492240"/>
            <a:ext cx="6094476" cy="36576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ED8"/>
                </a:solidFill>
                <a:latin typeface="Calibri"/>
              </a:rPr>
              <a:t>BelaGo · Apresentação Confidencial ·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AED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Perguntas de Discovery — Funcionalidades &amp; Tecnologia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5486400" cy="5212080"/>
          </a:xfrm>
          <a:prstGeom prst="rect">
            <a:avLst/>
          </a:prstGeom>
          <a:solidFill>
            <a:srgbClr val="E8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486400" cy="411480"/>
          </a:xfrm>
          <a:prstGeom prst="rect">
            <a:avLst/>
          </a:prstGeom>
          <a:solidFill>
            <a:srgbClr val="0DC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533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  ·  FUNCIONALIDADES &amp; PRIORIDADES DO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0E1B"/>
                </a:solidFill>
                <a:latin typeface="Calibri"/>
              </a:rPr>
              <a:t>1. O pagamento precisa acontecer obrigatoriamente dentro do app no MVP, ou pode começar com pagamento direto entre cliente e profissional?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0428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Simples: sem pagamento no app (meses a menos). Complexo: Pagar.me + split integrado.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06040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0E1B"/>
                </a:solidFill>
                <a:latin typeface="Calibri"/>
              </a:rPr>
              <a:t>2. Você prefere dois apps separados (um para cliente, outro para profissional) ou um único app com switch de perfil?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08152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Simples: dois apps. Complexo: app unificado — mais trabalho, mas melhor UX no longo prazo.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383280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0E1B"/>
                </a:solidFill>
                <a:latin typeface="Calibri"/>
              </a:rPr>
              <a:t>3. Se uma profissional cancelar 1 hora antes do serviço, o que acontece com a cliente e o pagamento?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85876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Define política de cancelamento e lógica de multa/reembolso automático — impacta backend.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160520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0E1B"/>
                </a:solidFill>
                <a:latin typeface="Calibri"/>
              </a:rPr>
              <a:t>4. O chat entre cliente e profissional é obrigatório no MVP ou pode ficar para v2?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63600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Simples: sem chat, comunicação via WhatsApp. Complexo: chat in-app com moderação.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937760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0E1B"/>
                </a:solidFill>
                <a:latin typeface="Calibri"/>
              </a:rPr>
              <a:t>5. O rastreamento em tempo real da profissional a caminho (como Uber) é essencial no MVP?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41324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Muito complexo para MVP. Recomendamos deixar para v2, mas a cliente decide.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715000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0E1B"/>
                </a:solidFill>
                <a:latin typeface="Calibri"/>
              </a:rPr>
              <a:t>6. As avaliações pós-serviço são obrigatórias — a cliente só consegue agendar outra vez se avaliar?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19048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Muda completamente o fluxo pós-atendimento e o algoritmo de ranqueamento das profissionais.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325880"/>
            <a:ext cx="5760720" cy="5212080"/>
          </a:xfrm>
          <a:prstGeom prst="rect">
            <a:avLst/>
          </a:prstGeom>
          <a:solidFill>
            <a:srgbClr val="FF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325880"/>
            <a:ext cx="576072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3533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  ·  TECNOLOGIA &amp; INTEGRAÇÕES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82880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0E1B"/>
                </a:solidFill>
                <a:latin typeface="Calibri"/>
              </a:rPr>
              <a:t>1. Você já tem contas de desenvolvedor ativas na Apple (US$ 99/ano) e Google Play (US$ 25)?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3591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Sem essas contas, não conseguimos publicar nas lojas. Pode levar até 2 semanas para aprovação da Apple.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74320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0E1B"/>
                </a:solidFill>
                <a:latin typeface="Calibri"/>
              </a:rPr>
              <a:t>2. Você tem preferência de gateway de pagamento — Pagar.me, Stripe, Mercado Pago?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2735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Pagar.me tem melhor suporte a split automático para marketplaces no Brasil.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65760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0E1B"/>
                </a:solidFill>
                <a:latin typeface="Calibri"/>
              </a:rPr>
              <a:t>3. Existe algum sistema que você já usa hoje (agenda, ERP, WhatsApp Business) que precisa se integrar ao BelaGo?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1879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Integrações legadas aumentam prazo. Melhor descobrir agora do que no meio da fase 3.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57200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0E1B"/>
                </a:solidFill>
                <a:latin typeface="Calibri"/>
              </a:rPr>
              <a:t>4. Você tem preferência de serviço de nuvem — AWS, Google Cloud, Azure?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1023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Recomendamos AWS por ecossistema no Brasil, mas a preferência da cliente define.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48640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0E1B"/>
                </a:solidFill>
                <a:latin typeface="Calibri"/>
              </a:rPr>
              <a:t>5. Tem domínio, e-mail corporativo e servidores já contratados para o BelaGo?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60167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77A"/>
                </a:solidFill>
                <a:latin typeface="Calibri"/>
              </a:rPr>
              <a:t>Precisamos de um subdomínio de API e e-mail de suporte antes do fim da fase 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6094476" cy="36576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94476" y="6492240"/>
            <a:ext cx="6094476" cy="36576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ED8"/>
                </a:solidFill>
                <a:latin typeface="Calibri"/>
              </a:rPr>
              <a:t>BelaGo · Apresentação Confidencial ·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AED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E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Perguntas de Discovery — Design, Prazos &amp; Legal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3749039" cy="5212080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3749039" cy="384048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  ·  DESIGN &amp; IDENTIDADE VISUAL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0E1B"/>
                </a:solidFill>
                <a:latin typeface="Calibri"/>
              </a:rPr>
              <a:t>1. Você tem logo, manual de marca ou qualquer material visual já criado para o BelaGo?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2316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577A"/>
                </a:solidFill>
                <a:latin typeface="Calibri"/>
              </a:rPr>
              <a:t>Se sim, o trabalho de design parte desse material. Se não, precisamos criar tudo do zero.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26080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0E1B"/>
                </a:solidFill>
                <a:latin typeface="Calibri"/>
              </a:rPr>
              <a:t>2. Existe algum app ou marca que você admira esteticamente e que represente o que quer para o BelaGo?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2044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577A"/>
                </a:solidFill>
                <a:latin typeface="Calibri"/>
              </a:rPr>
              <a:t>Referências visuais valem mais que palavras para alinhar expectativas de design.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023360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0E1B"/>
                </a:solidFill>
                <a:latin typeface="Calibri"/>
              </a:rPr>
              <a:t>3. O nome 'BelaGo' é definitivo, ou ainda está em avaliação?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61772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577A"/>
                </a:solidFill>
                <a:latin typeface="Calibri"/>
              </a:rPr>
              <a:t>Impacta o design do logo, domínio, contas de redes sociais e submissão nas lojas.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120640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0E1B"/>
                </a:solidFill>
                <a:latin typeface="Calibri"/>
              </a:rPr>
              <a:t>4. O tom deve ser mais premium (como um spa de luxo) ou mais popular e acessível (como um salão do bairro)?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71500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577A"/>
                </a:solidFill>
                <a:latin typeface="Calibri"/>
              </a:rPr>
              <a:t>Define todo o vocabulário visual: fontes, fotos, paleta de preços sugeridos.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325880"/>
            <a:ext cx="3749039" cy="5212080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0" y="1325880"/>
            <a:ext cx="3749039" cy="384048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353312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  ·  PRAZOS &amp; ORÇAMENTO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828800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0E1B"/>
                </a:solidFill>
                <a:latin typeface="Calibri"/>
              </a:rPr>
              <a:t>1. Existe alguma data externa com deadline fixo — investidor, aceleração, evento — que define até quando o app precisa estar no ar?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42316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577A"/>
                </a:solidFill>
                <a:latin typeface="Calibri"/>
              </a:rPr>
              <a:t>Se sim, esse deadline guia tudo. Se não, podemos otimizar por qualidade ao invés de velocidade.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926080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0E1B"/>
                </a:solidFill>
                <a:latin typeface="Calibri"/>
              </a:rPr>
              <a:t>2. Qual é o orçamento separado para infraestrutura (servidor, banco de dados, APIs pagas)?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52044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577A"/>
                </a:solidFill>
                <a:latin typeface="Calibri"/>
              </a:rPr>
              <a:t>Estimativa: R$ 300–600/mês nos primeiros 6 meses. Precisa estar previsto fora do custo de desenvolvimento.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023360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0E1B"/>
                </a:solidFill>
                <a:latin typeface="Calibri"/>
              </a:rPr>
              <a:t>3. Você prefere pagamento por milestone (ao atingir cada marco) ou mensalidade fixa durante o projeto?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61772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577A"/>
                </a:solidFill>
                <a:latin typeface="Calibri"/>
              </a:rPr>
              <a:t>Definem o fluxo de caixa de ambos os lados e os incentivos para entregar no prazo.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120640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0E1B"/>
                </a:solidFill>
                <a:latin typeface="Calibri"/>
              </a:rPr>
              <a:t>4. Você tem plano para suporte técnico após o lançamento — manutenção, correções e novas versões?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71500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577A"/>
                </a:solidFill>
                <a:latin typeface="Calibri"/>
              </a:rPr>
              <a:t>Essencial definir antes do contrato: suporte incluso por X meses ou contrato separado?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325880"/>
            <a:ext cx="3749039" cy="5212080"/>
          </a:xfrm>
          <a:prstGeom prst="rect">
            <a:avLst/>
          </a:prstGeom>
          <a:solidFill>
            <a:srgbClr val="E8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1325880"/>
            <a:ext cx="3749039" cy="384048"/>
          </a:xfrm>
          <a:prstGeom prst="rect">
            <a:avLst/>
          </a:prstGeom>
          <a:solidFill>
            <a:srgbClr val="0DC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1353312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G  ·  LEGAL &amp; 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1828800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0E1B"/>
                </a:solidFill>
                <a:latin typeface="Calibri"/>
              </a:rPr>
              <a:t>1. Como você enxerga a relação jurídica com as profissionais — elas são prestadoras de serviço (PJ/MEI) ou há risco de vínculo trabalhista?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42316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577A"/>
                </a:solidFill>
                <a:latin typeface="Calibri"/>
              </a:rPr>
              <a:t>Um parecer jurídico agora pode evitar um processo trabalhista depois. Modelos como Uber são referência.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926080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0E1B"/>
                </a:solidFill>
                <a:latin typeface="Calibri"/>
              </a:rPr>
              <a:t>2. Você tem preocupações específicas com LGPD — dados de localização e fotos das profissionais e clientes?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52044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577A"/>
                </a:solidFill>
                <a:latin typeface="Calibri"/>
              </a:rPr>
              <a:t>Precisamos de Política de Privacidade e Termos de Uso aprovados por advogado antes do lançamento.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023360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0E1B"/>
                </a:solidFill>
                <a:latin typeface="Calibri"/>
              </a:rPr>
              <a:t>3. Os Termos de Uso e Política de Privacidade são entregáveis do nosso contrato ou a cliente contrata advogado separado?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61772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577A"/>
                </a:solidFill>
                <a:latin typeface="Calibri"/>
              </a:rPr>
              <a:t>Isso precisa estar claro no escopo — documentos mal feitos podem bloquear aprovação nas lojas.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120640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0E1B"/>
                </a:solidFill>
                <a:latin typeface="Calibri"/>
              </a:rPr>
              <a:t>4. Existe alguma regulamentação específica do setor de beleza que você já identificou — vigilância sanitária, certificações?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71500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577A"/>
                </a:solidFill>
                <a:latin typeface="Calibri"/>
              </a:rPr>
              <a:t>Profissionais de micropigmentação e depilação química podem ter requisitos de licença específicos.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92240"/>
            <a:ext cx="6094476" cy="36576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94476" y="6492240"/>
            <a:ext cx="6094476" cy="36576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ED8"/>
                </a:solidFill>
                <a:latin typeface="Calibri"/>
              </a:rPr>
              <a:t>BelaGo · Apresentação Confidencial · 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AED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2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AED8"/>
                </a:solidFill>
                <a:latin typeface="Calibri"/>
              </a:rPr>
              <a:t>O que acontece depois desta reunião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73152" cy="68580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448A"/>
                </a:solidFill>
                <a:latin typeface="Calibri"/>
              </a:rPr>
              <a:t>Ainda hoje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0195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AED8"/>
                </a:solidFill>
                <a:latin typeface="Calibri"/>
              </a:rPr>
              <a:t>Envio da ata da reunião com as decisões tomadas e perguntas respondidas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73152" cy="68580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DE5"/>
                </a:solidFill>
                <a:latin typeface="Calibri"/>
              </a:rPr>
              <a:t>Em até 48h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1635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AED8"/>
                </a:solidFill>
                <a:latin typeface="Calibri"/>
              </a:rPr>
              <a:t>Documento de Requisitos v1 para revisão e assinatura da cliente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73152" cy="685800"/>
          </a:xfrm>
          <a:prstGeom prst="rect">
            <a:avLst/>
          </a:prstGeom>
          <a:solidFill>
            <a:srgbClr val="0DC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015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C5A8"/>
                </a:solidFill>
                <a:latin typeface="Calibri"/>
              </a:rPr>
              <a:t>Semana 1 — Kickoff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3075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AED8"/>
                </a:solidFill>
                <a:latin typeface="Calibri"/>
              </a:rPr>
              <a:t>Reunião oficial de kickoff, início da Fase 1 de Descoberta &amp; UX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97680"/>
            <a:ext cx="73152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3159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Semana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64515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AED8"/>
                </a:solidFill>
                <a:latin typeface="Calibri"/>
              </a:rPr>
              <a:t>Apresentação dos wireframes de baixa fidelidade para aprovação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212080"/>
            <a:ext cx="73152" cy="68580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2303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448A"/>
                </a:solidFill>
                <a:latin typeface="Calibri"/>
              </a:rPr>
              <a:t>Semana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55955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AED8"/>
                </a:solidFill>
                <a:latin typeface="Calibri"/>
              </a:rPr>
              <a:t>Requisitos v1 assinados — início da Fase 2 de Design de Interface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806440"/>
            <a:ext cx="11247120" cy="777240"/>
          </a:xfrm>
          <a:prstGeom prst="rect">
            <a:avLst/>
          </a:prstGeom>
          <a:solidFill>
            <a:srgbClr val="1E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E8448A"/>
                </a:solidFill>
                <a:latin typeface="Georgia"/>
              </a:rPr>
              <a:t>"Vamos construir algo que as mulheres de Betim vão amar usar."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6094476" cy="36576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4476" y="6492240"/>
            <a:ext cx="6094476" cy="36576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ED8"/>
                </a:solidFill>
                <a:latin typeface="Calibri"/>
              </a:rPr>
              <a:t>BelaGo · Apresentação Confidencial ·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8AED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22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1">
                <a:solidFill>
                  <a:srgbClr val="E8448A"/>
                </a:solidFill>
                <a:latin typeface="Georgia"/>
              </a:rPr>
              <a:t>BelaGo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8AED8"/>
                </a:solidFill>
                <a:latin typeface="Calibri"/>
              </a:rPr>
              <a:t>O Uber da Beleza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Obrigado pela sua confiança.
Vamos começar?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AED8"/>
                </a:solidFill>
                <a:latin typeface="Calibri"/>
              </a:rPr>
              <a:t>CONTATO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2907792"/>
            <a:ext cx="2286000" cy="4572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30632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Desenvolvedor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3375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Gabriel Mendes Fortunato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74903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E-mail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02335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quadrumanos.contato@gmail.com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4348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Projeto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7091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BelaGo — MVP 4 meses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577A"/>
                </a:solidFill>
                <a:latin typeface="Calibri"/>
              </a:rPr>
              <a:t>Início previsto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53949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Agosto 2025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6094476" cy="365760"/>
          </a:xfrm>
          <a:prstGeom prst="rect">
            <a:avLst/>
          </a:prstGeom>
          <a:solidFill>
            <a:srgbClr val="E84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4476" y="6492240"/>
            <a:ext cx="6094476" cy="36576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