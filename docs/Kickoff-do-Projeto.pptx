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Funnel Sans Bold"/>
      <p:regular r:id="rId201314"/>
    </p:embeddedFont>
    <p:embeddedFont>
      <p:font typeface="Funnel Sans ExtraBold"/>
      <p:regular r:id="rId201315"/>
    </p:embeddedFont>
    <p:embeddedFont>
      <p:font typeface="Funnel Sans Light"/>
      <p:regular r:id="rId201316"/>
    </p:embeddedFont>
    <p:embeddedFont>
      <p:font typeface="Funnel Sans"/>
      <p:regular r:id="rId201317"/>
    </p:embeddedFont>
    <p:embeddedFont>
      <p:font typeface="Funnel Sans Medium"/>
      <p:regular r:id="rId201318"/>
    </p:embeddedFont>
    <p:embeddedFont>
      <p:font typeface="Funnel Sans SemiBold"/>
      <p:regular r:id="rId201319"/>
    </p:embeddedFont>
    <p:embeddedFont>
      <p:font typeface="Mona Sans Bold"/>
      <p:regular r:id="rId201320"/>
    </p:embeddedFont>
    <p:embeddedFont>
      <p:font typeface="Mona Sans ExtraBold"/>
      <p:regular r:id="rId201321"/>
    </p:embeddedFont>
    <p:embeddedFont>
      <p:font typeface="Mona Sans Black"/>
      <p:regular r:id="rId201322"/>
    </p:embeddedFont>
    <p:embeddedFont>
      <p:font typeface="Mona Sans ExtraLight"/>
      <p:regular r:id="rId201323"/>
    </p:embeddedFont>
    <p:embeddedFont>
      <p:font typeface="Mona Sans Light"/>
      <p:regular r:id="rId201324"/>
    </p:embeddedFont>
    <p:embeddedFont>
      <p:font typeface="Mona Sans"/>
      <p:regular r:id="rId201325"/>
    </p:embeddedFont>
    <p:embeddedFont>
      <p:font typeface="Mona Sans Medium"/>
      <p:regular r:id="rId201326"/>
    </p:embeddedFont>
    <p:embeddedFont>
      <p:font typeface="Mona Sans SemiBold"/>
      <p:regular r:id="rId2013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5.png"/><Relationship Id="rId8" Type="http://schemas.openxmlformats.org/officeDocument/2006/relationships/image" Target="../media/image-6-6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9.png"/><Relationship Id="rId12" Type="http://schemas.openxmlformats.org/officeDocument/2006/relationships/image" Target="../media/image-6-10.svg"/><Relationship Id="rId13" Type="http://schemas.openxmlformats.org/officeDocument/2006/relationships/image" Target="../media/image-6-13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image" Target="../media/image-8-4.jpe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7719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491704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BelaGo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147292"/>
            <a:ext cx="4722763" cy="611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Kickoff do Projeto</a:t>
            </a:r>
            <a:endParaRPr lang="en-US" sz="3850" dirty="0"/>
          </a:p>
        </p:txBody>
      </p:sp>
      <p:sp>
        <p:nvSpPr>
          <p:cNvPr id="5" name="Text 2"/>
          <p:cNvSpPr/>
          <p:nvPr/>
        </p:nvSpPr>
        <p:spPr>
          <a:xfrm>
            <a:off x="3925119" y="2971279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Apresentação completa do projeto: cronograma de marcos, identidade visual e sessão de descoberta. Tudo que você precisa saber antes de começarmos.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17463"/>
            <a:ext cx="1470794" cy="215354"/>
          </a:xfrm>
          <a:prstGeom prst="roundRect">
            <a:avLst>
              <a:gd name="adj" fmla="val 22119"/>
            </a:avLst>
          </a:prstGeom>
          <a:solidFill>
            <a:srgbClr val="262626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459953"/>
            <a:ext cx="175788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PARTE 1 · CRONOGRAMA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68952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Entregamos em Fases com Aprovação Formal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345109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Nossa filosofia: cada fase tem critérios claros de aceite e aprovação documentada antes de avançar. Você sempre sabe onde estamos e o que vem a seguir — sem surpresas.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958206"/>
            <a:ext cx="4075881" cy="5670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7877" y="2667000"/>
            <a:ext cx="379236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Fase 1 · Mês 1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7877" y="2973512"/>
            <a:ext cx="379236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Descoberta &amp; UX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958206"/>
            <a:ext cx="4075881" cy="5670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13759" y="2667000"/>
            <a:ext cx="379236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Fase 2 · Mês 2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713759" y="2973512"/>
            <a:ext cx="379236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Design de Interface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3342084"/>
            <a:ext cx="4075881" cy="56703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7877" y="4050878"/>
            <a:ext cx="379236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Fase 3 · Mês 3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37877" y="4357390"/>
            <a:ext cx="379236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Desenvolvimento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342084"/>
            <a:ext cx="4075881" cy="56703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713759" y="4050878"/>
            <a:ext cx="379236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Fase 4 · Mês 4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4713759" y="4357390"/>
            <a:ext cx="379236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Testes &amp; Lançamento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8756"/>
            <a:ext cx="609228" cy="114374"/>
          </a:xfrm>
          <a:prstGeom prst="roundRect">
            <a:avLst>
              <a:gd name="adj" fmla="val 22125"/>
            </a:avLst>
          </a:prstGeom>
          <a:noFill/>
          <a:ln w="4763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1288" y="431304"/>
            <a:ext cx="976089" cy="69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PARTE 1 · MARCOS</a:t>
            </a:r>
            <a:endParaRPr lang="en-US" sz="450" dirty="0"/>
          </a:p>
        </p:txBody>
      </p:sp>
      <p:sp>
        <p:nvSpPr>
          <p:cNvPr id="4" name="Text 2"/>
          <p:cNvSpPr/>
          <p:nvPr/>
        </p:nvSpPr>
        <p:spPr>
          <a:xfrm>
            <a:off x="496119" y="539130"/>
            <a:ext cx="8151763" cy="235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Marco a Marco: O Que Será Entregue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96119" y="834405"/>
            <a:ext cx="8151763" cy="3900339"/>
          </a:xfrm>
          <a:prstGeom prst="roundRect">
            <a:avLst>
              <a:gd name="adj" fmla="val 811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0881" y="839167"/>
            <a:ext cx="8142238" cy="14964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76337" y="867891"/>
            <a:ext cx="1769790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Marco</a:t>
            </a:r>
            <a:endParaRPr lang="en-US" sz="550" dirty="0"/>
          </a:p>
        </p:txBody>
      </p:sp>
      <p:sp>
        <p:nvSpPr>
          <p:cNvPr id="8" name="Text 6"/>
          <p:cNvSpPr/>
          <p:nvPr/>
        </p:nvSpPr>
        <p:spPr>
          <a:xfrm>
            <a:off x="2044303" y="867891"/>
            <a:ext cx="1115988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Semana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2858467" y="867891"/>
            <a:ext cx="3314402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Entregável Concreto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5871046" y="867891"/>
            <a:ext cx="3153966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Critério de Aceite</a:t>
            </a:r>
            <a:endParaRPr lang="en-US" sz="550" dirty="0"/>
          </a:p>
        </p:txBody>
      </p:sp>
      <p:sp>
        <p:nvSpPr>
          <p:cNvPr id="11" name="Shape 9"/>
          <p:cNvSpPr/>
          <p:nvPr/>
        </p:nvSpPr>
        <p:spPr>
          <a:xfrm>
            <a:off x="500881" y="988814"/>
            <a:ext cx="8142238" cy="14964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76337" y="1017538"/>
            <a:ext cx="1769790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Fase 1 — Descoberta &amp; UX</a:t>
            </a:r>
            <a:endParaRPr lang="en-US" sz="550" dirty="0"/>
          </a:p>
        </p:txBody>
      </p:sp>
      <p:sp>
        <p:nvSpPr>
          <p:cNvPr id="13" name="Text 11"/>
          <p:cNvSpPr/>
          <p:nvPr/>
        </p:nvSpPr>
        <p:spPr>
          <a:xfrm>
            <a:off x="2044303" y="1017538"/>
            <a:ext cx="1115988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2858467" y="1017538"/>
            <a:ext cx="3314402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endParaRPr lang="en-US" sz="550" dirty="0"/>
          </a:p>
        </p:txBody>
      </p:sp>
      <p:sp>
        <p:nvSpPr>
          <p:cNvPr id="15" name="Text 13"/>
          <p:cNvSpPr/>
          <p:nvPr/>
        </p:nvSpPr>
        <p:spPr>
          <a:xfrm>
            <a:off x="5871046" y="1017538"/>
            <a:ext cx="3153966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endParaRPr lang="en-US" sz="550" dirty="0"/>
          </a:p>
        </p:txBody>
      </p:sp>
      <p:sp>
        <p:nvSpPr>
          <p:cNvPr id="16" name="Shape 14"/>
          <p:cNvSpPr/>
          <p:nvPr/>
        </p:nvSpPr>
        <p:spPr>
          <a:xfrm>
            <a:off x="500881" y="1138461"/>
            <a:ext cx="8142238" cy="14964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76337" y="1167185"/>
            <a:ext cx="1769790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Kickoff oficial</a:t>
            </a:r>
            <a:endParaRPr lang="en-US" sz="550" dirty="0"/>
          </a:p>
        </p:txBody>
      </p:sp>
      <p:sp>
        <p:nvSpPr>
          <p:cNvPr id="18" name="Text 16"/>
          <p:cNvSpPr/>
          <p:nvPr/>
        </p:nvSpPr>
        <p:spPr>
          <a:xfrm>
            <a:off x="2044303" y="1167185"/>
            <a:ext cx="1115988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Sem. 1</a:t>
            </a:r>
            <a:endParaRPr lang="en-US" sz="550" dirty="0"/>
          </a:p>
        </p:txBody>
      </p:sp>
      <p:sp>
        <p:nvSpPr>
          <p:cNvPr id="19" name="Text 17"/>
          <p:cNvSpPr/>
          <p:nvPr/>
        </p:nvSpPr>
        <p:spPr>
          <a:xfrm>
            <a:off x="2858467" y="1167185"/>
            <a:ext cx="3314402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Reunião de alinhamento de visão e escopo</a:t>
            </a:r>
            <a:endParaRPr lang="en-US" sz="550" dirty="0"/>
          </a:p>
        </p:txBody>
      </p:sp>
      <p:sp>
        <p:nvSpPr>
          <p:cNvPr id="20" name="Text 18"/>
          <p:cNvSpPr/>
          <p:nvPr/>
        </p:nvSpPr>
        <p:spPr>
          <a:xfrm>
            <a:off x="5871046" y="1167185"/>
            <a:ext cx="3153966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Ata de reunião aprovada</a:t>
            </a:r>
            <a:endParaRPr lang="en-US" sz="550" dirty="0"/>
          </a:p>
        </p:txBody>
      </p:sp>
      <p:sp>
        <p:nvSpPr>
          <p:cNvPr id="21" name="Shape 19"/>
          <p:cNvSpPr/>
          <p:nvPr/>
        </p:nvSpPr>
        <p:spPr>
          <a:xfrm>
            <a:off x="500881" y="1288107"/>
            <a:ext cx="8142238" cy="14964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76337" y="1316831"/>
            <a:ext cx="1769790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Personas definidas</a:t>
            </a:r>
            <a:endParaRPr lang="en-US" sz="550" dirty="0"/>
          </a:p>
        </p:txBody>
      </p:sp>
      <p:sp>
        <p:nvSpPr>
          <p:cNvPr id="23" name="Text 21"/>
          <p:cNvSpPr/>
          <p:nvPr/>
        </p:nvSpPr>
        <p:spPr>
          <a:xfrm>
            <a:off x="2044303" y="1316831"/>
            <a:ext cx="1115988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Sem. 2</a:t>
            </a:r>
            <a:endParaRPr lang="en-US" sz="550" dirty="0"/>
          </a:p>
        </p:txBody>
      </p:sp>
      <p:sp>
        <p:nvSpPr>
          <p:cNvPr id="24" name="Text 22"/>
          <p:cNvSpPr/>
          <p:nvPr/>
        </p:nvSpPr>
        <p:spPr>
          <a:xfrm>
            <a:off x="2858467" y="1316831"/>
            <a:ext cx="3314402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Persona cliente + profissional documentadas</a:t>
            </a:r>
            <a:endParaRPr lang="en-US" sz="550" dirty="0"/>
          </a:p>
        </p:txBody>
      </p:sp>
      <p:sp>
        <p:nvSpPr>
          <p:cNvPr id="25" name="Text 23"/>
          <p:cNvSpPr/>
          <p:nvPr/>
        </p:nvSpPr>
        <p:spPr>
          <a:xfrm>
            <a:off x="5871046" y="1316831"/>
            <a:ext cx="3153966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Aprovação da cliente</a:t>
            </a:r>
            <a:endParaRPr lang="en-US" sz="550" dirty="0"/>
          </a:p>
        </p:txBody>
      </p:sp>
      <p:sp>
        <p:nvSpPr>
          <p:cNvPr id="26" name="Shape 24"/>
          <p:cNvSpPr/>
          <p:nvPr/>
        </p:nvSpPr>
        <p:spPr>
          <a:xfrm>
            <a:off x="500881" y="1437754"/>
            <a:ext cx="8142238" cy="14964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76337" y="1466478"/>
            <a:ext cx="1769790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Análise de concorrentes</a:t>
            </a:r>
            <a:endParaRPr lang="en-US" sz="550" dirty="0"/>
          </a:p>
        </p:txBody>
      </p:sp>
      <p:sp>
        <p:nvSpPr>
          <p:cNvPr id="28" name="Text 26"/>
          <p:cNvSpPr/>
          <p:nvPr/>
        </p:nvSpPr>
        <p:spPr>
          <a:xfrm>
            <a:off x="2044303" y="1466478"/>
            <a:ext cx="1115988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Sem. 2</a:t>
            </a:r>
            <a:endParaRPr lang="en-US" sz="550" dirty="0"/>
          </a:p>
        </p:txBody>
      </p:sp>
      <p:sp>
        <p:nvSpPr>
          <p:cNvPr id="29" name="Text 27"/>
          <p:cNvSpPr/>
          <p:nvPr/>
        </p:nvSpPr>
        <p:spPr>
          <a:xfrm>
            <a:off x="2858467" y="1466478"/>
            <a:ext cx="3314402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Relatório Singu, Glam e BeautyDate</a:t>
            </a:r>
            <a:endParaRPr lang="en-US" sz="550" dirty="0"/>
          </a:p>
        </p:txBody>
      </p:sp>
      <p:sp>
        <p:nvSpPr>
          <p:cNvPr id="30" name="Text 28"/>
          <p:cNvSpPr/>
          <p:nvPr/>
        </p:nvSpPr>
        <p:spPr>
          <a:xfrm>
            <a:off x="5871046" y="1466478"/>
            <a:ext cx="3153966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Apresentação ao time</a:t>
            </a:r>
            <a:endParaRPr lang="en-US" sz="550" dirty="0"/>
          </a:p>
        </p:txBody>
      </p:sp>
      <p:sp>
        <p:nvSpPr>
          <p:cNvPr id="31" name="Shape 29"/>
          <p:cNvSpPr/>
          <p:nvPr/>
        </p:nvSpPr>
        <p:spPr>
          <a:xfrm>
            <a:off x="500881" y="1587401"/>
            <a:ext cx="8142238" cy="14964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76337" y="1616125"/>
            <a:ext cx="1769790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Wireframes aprovados</a:t>
            </a:r>
            <a:endParaRPr lang="en-US" sz="550" dirty="0"/>
          </a:p>
        </p:txBody>
      </p:sp>
      <p:sp>
        <p:nvSpPr>
          <p:cNvPr id="33" name="Text 31"/>
          <p:cNvSpPr/>
          <p:nvPr/>
        </p:nvSpPr>
        <p:spPr>
          <a:xfrm>
            <a:off x="2044303" y="1616125"/>
            <a:ext cx="1115988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Sem. 3</a:t>
            </a:r>
            <a:endParaRPr lang="en-US" sz="550" dirty="0"/>
          </a:p>
        </p:txBody>
      </p:sp>
      <p:sp>
        <p:nvSpPr>
          <p:cNvPr id="34" name="Text 32"/>
          <p:cNvSpPr/>
          <p:nvPr/>
        </p:nvSpPr>
        <p:spPr>
          <a:xfrm>
            <a:off x="2858467" y="1616125"/>
            <a:ext cx="3314402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Fluxo principal em baixa fidelidade</a:t>
            </a:r>
            <a:endParaRPr lang="en-US" sz="550" dirty="0"/>
          </a:p>
        </p:txBody>
      </p:sp>
      <p:sp>
        <p:nvSpPr>
          <p:cNvPr id="35" name="Text 33"/>
          <p:cNvSpPr/>
          <p:nvPr/>
        </p:nvSpPr>
        <p:spPr>
          <a:xfrm>
            <a:off x="5871046" y="1616125"/>
            <a:ext cx="3153966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Assinatura da cliente</a:t>
            </a:r>
            <a:endParaRPr lang="en-US" sz="550" dirty="0"/>
          </a:p>
        </p:txBody>
      </p:sp>
      <p:sp>
        <p:nvSpPr>
          <p:cNvPr id="36" name="Shape 34"/>
          <p:cNvSpPr/>
          <p:nvPr/>
        </p:nvSpPr>
        <p:spPr>
          <a:xfrm>
            <a:off x="500881" y="1737047"/>
            <a:ext cx="8142238" cy="14964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76337" y="1765771"/>
            <a:ext cx="1769790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Requisitos v1 assinado</a:t>
            </a:r>
            <a:endParaRPr lang="en-US" sz="550" dirty="0"/>
          </a:p>
        </p:txBody>
      </p:sp>
      <p:sp>
        <p:nvSpPr>
          <p:cNvPr id="38" name="Text 36"/>
          <p:cNvSpPr/>
          <p:nvPr/>
        </p:nvSpPr>
        <p:spPr>
          <a:xfrm>
            <a:off x="2044303" y="1765771"/>
            <a:ext cx="1115988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Sem. 4</a:t>
            </a:r>
            <a:endParaRPr lang="en-US" sz="550" dirty="0"/>
          </a:p>
        </p:txBody>
      </p:sp>
      <p:sp>
        <p:nvSpPr>
          <p:cNvPr id="39" name="Text 37"/>
          <p:cNvSpPr/>
          <p:nvPr/>
        </p:nvSpPr>
        <p:spPr>
          <a:xfrm>
            <a:off x="2858467" y="1765771"/>
            <a:ext cx="3314402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Documento de Requisitos completo</a:t>
            </a:r>
            <a:endParaRPr lang="en-US" sz="550" dirty="0"/>
          </a:p>
        </p:txBody>
      </p:sp>
      <p:sp>
        <p:nvSpPr>
          <p:cNvPr id="40" name="Text 38"/>
          <p:cNvSpPr/>
          <p:nvPr/>
        </p:nvSpPr>
        <p:spPr>
          <a:xfrm>
            <a:off x="5871046" y="1765771"/>
            <a:ext cx="3153966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Assinatura da cliente</a:t>
            </a:r>
            <a:endParaRPr lang="en-US" sz="550" dirty="0"/>
          </a:p>
        </p:txBody>
      </p:sp>
      <p:sp>
        <p:nvSpPr>
          <p:cNvPr id="41" name="Shape 39"/>
          <p:cNvSpPr/>
          <p:nvPr/>
        </p:nvSpPr>
        <p:spPr>
          <a:xfrm>
            <a:off x="500881" y="1886694"/>
            <a:ext cx="8142238" cy="14964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576337" y="1915418"/>
            <a:ext cx="1769790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Fase 2 — Design de Interface</a:t>
            </a:r>
            <a:endParaRPr lang="en-US" sz="550" dirty="0"/>
          </a:p>
        </p:txBody>
      </p:sp>
      <p:sp>
        <p:nvSpPr>
          <p:cNvPr id="43" name="Text 41"/>
          <p:cNvSpPr/>
          <p:nvPr/>
        </p:nvSpPr>
        <p:spPr>
          <a:xfrm>
            <a:off x="2044303" y="1915418"/>
            <a:ext cx="1115988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endParaRPr lang="en-US" sz="550" dirty="0"/>
          </a:p>
        </p:txBody>
      </p:sp>
      <p:sp>
        <p:nvSpPr>
          <p:cNvPr id="44" name="Text 42"/>
          <p:cNvSpPr/>
          <p:nvPr/>
        </p:nvSpPr>
        <p:spPr>
          <a:xfrm>
            <a:off x="2858467" y="1915418"/>
            <a:ext cx="3314402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endParaRPr lang="en-US" sz="550" dirty="0"/>
          </a:p>
        </p:txBody>
      </p:sp>
      <p:sp>
        <p:nvSpPr>
          <p:cNvPr id="45" name="Text 43"/>
          <p:cNvSpPr/>
          <p:nvPr/>
        </p:nvSpPr>
        <p:spPr>
          <a:xfrm>
            <a:off x="5871046" y="1915418"/>
            <a:ext cx="3153966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endParaRPr lang="en-US" sz="550" dirty="0"/>
          </a:p>
        </p:txBody>
      </p:sp>
      <p:sp>
        <p:nvSpPr>
          <p:cNvPr id="46" name="Shape 44"/>
          <p:cNvSpPr/>
          <p:nvPr/>
        </p:nvSpPr>
        <p:spPr>
          <a:xfrm>
            <a:off x="500881" y="2036341"/>
            <a:ext cx="8142238" cy="14964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576337" y="2065065"/>
            <a:ext cx="1769790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Design System finalizado</a:t>
            </a:r>
            <a:endParaRPr lang="en-US" sz="550" dirty="0"/>
          </a:p>
        </p:txBody>
      </p:sp>
      <p:sp>
        <p:nvSpPr>
          <p:cNvPr id="48" name="Text 46"/>
          <p:cNvSpPr/>
          <p:nvPr/>
        </p:nvSpPr>
        <p:spPr>
          <a:xfrm>
            <a:off x="2044303" y="2065065"/>
            <a:ext cx="1115988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Sem. 5</a:t>
            </a:r>
            <a:endParaRPr lang="en-US" sz="550" dirty="0"/>
          </a:p>
        </p:txBody>
      </p:sp>
      <p:sp>
        <p:nvSpPr>
          <p:cNvPr id="49" name="Text 47"/>
          <p:cNvSpPr/>
          <p:nvPr/>
        </p:nvSpPr>
        <p:spPr>
          <a:xfrm>
            <a:off x="2858467" y="2065065"/>
            <a:ext cx="3314402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Biblioteca de componentes no Figma</a:t>
            </a:r>
            <a:endParaRPr lang="en-US" sz="550" dirty="0"/>
          </a:p>
        </p:txBody>
      </p:sp>
      <p:sp>
        <p:nvSpPr>
          <p:cNvPr id="50" name="Text 48"/>
          <p:cNvSpPr/>
          <p:nvPr/>
        </p:nvSpPr>
        <p:spPr>
          <a:xfrm>
            <a:off x="5871046" y="2065065"/>
            <a:ext cx="3153966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Aprovação do time</a:t>
            </a:r>
            <a:endParaRPr lang="en-US" sz="550" dirty="0"/>
          </a:p>
        </p:txBody>
      </p:sp>
      <p:sp>
        <p:nvSpPr>
          <p:cNvPr id="51" name="Shape 49"/>
          <p:cNvSpPr/>
          <p:nvPr/>
        </p:nvSpPr>
        <p:spPr>
          <a:xfrm>
            <a:off x="500881" y="2185988"/>
            <a:ext cx="8142238" cy="14964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576337" y="2214711"/>
            <a:ext cx="1769790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UI app cliente aprovada</a:t>
            </a:r>
            <a:endParaRPr lang="en-US" sz="550" dirty="0"/>
          </a:p>
        </p:txBody>
      </p:sp>
      <p:sp>
        <p:nvSpPr>
          <p:cNvPr id="53" name="Text 51"/>
          <p:cNvSpPr/>
          <p:nvPr/>
        </p:nvSpPr>
        <p:spPr>
          <a:xfrm>
            <a:off x="2044303" y="2214711"/>
            <a:ext cx="1115988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Sem. 6</a:t>
            </a:r>
            <a:endParaRPr lang="en-US" sz="550" dirty="0"/>
          </a:p>
        </p:txBody>
      </p:sp>
      <p:sp>
        <p:nvSpPr>
          <p:cNvPr id="54" name="Text 52"/>
          <p:cNvSpPr/>
          <p:nvPr/>
        </p:nvSpPr>
        <p:spPr>
          <a:xfrm>
            <a:off x="2858467" y="2214711"/>
            <a:ext cx="3314402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Telas high-fidelity do fluxo principal</a:t>
            </a:r>
            <a:endParaRPr lang="en-US" sz="550" dirty="0"/>
          </a:p>
        </p:txBody>
      </p:sp>
      <p:sp>
        <p:nvSpPr>
          <p:cNvPr id="55" name="Text 53"/>
          <p:cNvSpPr/>
          <p:nvPr/>
        </p:nvSpPr>
        <p:spPr>
          <a:xfrm>
            <a:off x="5871046" y="2214711"/>
            <a:ext cx="3153966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Aprovação da cliente</a:t>
            </a:r>
            <a:endParaRPr lang="en-US" sz="550" dirty="0"/>
          </a:p>
        </p:txBody>
      </p:sp>
      <p:sp>
        <p:nvSpPr>
          <p:cNvPr id="56" name="Shape 54"/>
          <p:cNvSpPr/>
          <p:nvPr/>
        </p:nvSpPr>
        <p:spPr>
          <a:xfrm>
            <a:off x="500881" y="2335634"/>
            <a:ext cx="8142238" cy="14964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576337" y="2364358"/>
            <a:ext cx="1769790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UI app profissional aprovada</a:t>
            </a:r>
            <a:endParaRPr lang="en-US" sz="550" dirty="0"/>
          </a:p>
        </p:txBody>
      </p:sp>
      <p:sp>
        <p:nvSpPr>
          <p:cNvPr id="58" name="Text 56"/>
          <p:cNvSpPr/>
          <p:nvPr/>
        </p:nvSpPr>
        <p:spPr>
          <a:xfrm>
            <a:off x="2044303" y="2364358"/>
            <a:ext cx="1115988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Sem. 7</a:t>
            </a:r>
            <a:endParaRPr lang="en-US" sz="550" dirty="0"/>
          </a:p>
        </p:txBody>
      </p:sp>
      <p:sp>
        <p:nvSpPr>
          <p:cNvPr id="59" name="Text 57"/>
          <p:cNvSpPr/>
          <p:nvPr/>
        </p:nvSpPr>
        <p:spPr>
          <a:xfrm>
            <a:off x="2858467" y="2364358"/>
            <a:ext cx="3314402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Telas high-fidelity do app profissional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5871046" y="2364358"/>
            <a:ext cx="3153966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Aprovação da cliente</a:t>
            </a:r>
            <a:endParaRPr lang="en-US" sz="550" dirty="0"/>
          </a:p>
        </p:txBody>
      </p:sp>
      <p:sp>
        <p:nvSpPr>
          <p:cNvPr id="61" name="Shape 59"/>
          <p:cNvSpPr/>
          <p:nvPr/>
        </p:nvSpPr>
        <p:spPr>
          <a:xfrm>
            <a:off x="500881" y="2485281"/>
            <a:ext cx="8142238" cy="14964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576337" y="2514005"/>
            <a:ext cx="1769790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Protótipo validado</a:t>
            </a:r>
            <a:endParaRPr lang="en-US" sz="550" dirty="0"/>
          </a:p>
        </p:txBody>
      </p:sp>
      <p:sp>
        <p:nvSpPr>
          <p:cNvPr id="63" name="Text 61"/>
          <p:cNvSpPr/>
          <p:nvPr/>
        </p:nvSpPr>
        <p:spPr>
          <a:xfrm>
            <a:off x="2044303" y="2514005"/>
            <a:ext cx="1115988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Sem. 7</a:t>
            </a:r>
            <a:endParaRPr lang="en-US" sz="550" dirty="0"/>
          </a:p>
        </p:txBody>
      </p:sp>
      <p:sp>
        <p:nvSpPr>
          <p:cNvPr id="64" name="Text 62"/>
          <p:cNvSpPr/>
          <p:nvPr/>
        </p:nvSpPr>
        <p:spPr>
          <a:xfrm>
            <a:off x="2858467" y="2514005"/>
            <a:ext cx="3314402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Protótipo interativo testado com usuários</a:t>
            </a:r>
            <a:endParaRPr lang="en-US" sz="550" dirty="0"/>
          </a:p>
        </p:txBody>
      </p:sp>
      <p:sp>
        <p:nvSpPr>
          <p:cNvPr id="65" name="Text 63"/>
          <p:cNvSpPr/>
          <p:nvPr/>
        </p:nvSpPr>
        <p:spPr>
          <a:xfrm>
            <a:off x="5871046" y="2514005"/>
            <a:ext cx="3153966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Relatório de validação</a:t>
            </a:r>
            <a:endParaRPr lang="en-US" sz="550" dirty="0"/>
          </a:p>
        </p:txBody>
      </p:sp>
      <p:sp>
        <p:nvSpPr>
          <p:cNvPr id="66" name="Shape 64"/>
          <p:cNvSpPr/>
          <p:nvPr/>
        </p:nvSpPr>
        <p:spPr>
          <a:xfrm>
            <a:off x="500881" y="2634928"/>
            <a:ext cx="8142238" cy="14964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576337" y="2663651"/>
            <a:ext cx="1769790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Handoff concluído</a:t>
            </a:r>
            <a:endParaRPr lang="en-US" sz="550" dirty="0"/>
          </a:p>
        </p:txBody>
      </p:sp>
      <p:sp>
        <p:nvSpPr>
          <p:cNvPr id="68" name="Text 66"/>
          <p:cNvSpPr/>
          <p:nvPr/>
        </p:nvSpPr>
        <p:spPr>
          <a:xfrm>
            <a:off x="2044303" y="2663651"/>
            <a:ext cx="1115988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Sem. 8</a:t>
            </a:r>
            <a:endParaRPr lang="en-US" sz="550" dirty="0"/>
          </a:p>
        </p:txBody>
      </p:sp>
      <p:sp>
        <p:nvSpPr>
          <p:cNvPr id="69" name="Text 67"/>
          <p:cNvSpPr/>
          <p:nvPr/>
        </p:nvSpPr>
        <p:spPr>
          <a:xfrm>
            <a:off x="2858467" y="2663651"/>
            <a:ext cx="3314402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Design entregue ao time de dev</a:t>
            </a:r>
            <a:endParaRPr lang="en-US" sz="550" dirty="0"/>
          </a:p>
        </p:txBody>
      </p:sp>
      <p:sp>
        <p:nvSpPr>
          <p:cNvPr id="70" name="Text 68"/>
          <p:cNvSpPr/>
          <p:nvPr/>
        </p:nvSpPr>
        <p:spPr>
          <a:xfrm>
            <a:off x="5871046" y="2663651"/>
            <a:ext cx="3153966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Checklist de handoff</a:t>
            </a:r>
            <a:endParaRPr lang="en-US" sz="550" dirty="0"/>
          </a:p>
        </p:txBody>
      </p:sp>
      <p:sp>
        <p:nvSpPr>
          <p:cNvPr id="71" name="Shape 69"/>
          <p:cNvSpPr/>
          <p:nvPr/>
        </p:nvSpPr>
        <p:spPr>
          <a:xfrm>
            <a:off x="500881" y="2784574"/>
            <a:ext cx="8142238" cy="14964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576337" y="2813298"/>
            <a:ext cx="1769790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Fase 3 — Desenvolvimento</a:t>
            </a:r>
            <a:endParaRPr lang="en-US" sz="550" dirty="0"/>
          </a:p>
        </p:txBody>
      </p:sp>
      <p:sp>
        <p:nvSpPr>
          <p:cNvPr id="73" name="Text 71"/>
          <p:cNvSpPr/>
          <p:nvPr/>
        </p:nvSpPr>
        <p:spPr>
          <a:xfrm>
            <a:off x="2044303" y="2813298"/>
            <a:ext cx="1115988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endParaRPr lang="en-US" sz="550" dirty="0"/>
          </a:p>
        </p:txBody>
      </p:sp>
      <p:sp>
        <p:nvSpPr>
          <p:cNvPr id="74" name="Text 72"/>
          <p:cNvSpPr/>
          <p:nvPr/>
        </p:nvSpPr>
        <p:spPr>
          <a:xfrm>
            <a:off x="2858467" y="2813298"/>
            <a:ext cx="3314402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endParaRPr lang="en-US" sz="550" dirty="0"/>
          </a:p>
        </p:txBody>
      </p:sp>
      <p:sp>
        <p:nvSpPr>
          <p:cNvPr id="75" name="Text 73"/>
          <p:cNvSpPr/>
          <p:nvPr/>
        </p:nvSpPr>
        <p:spPr>
          <a:xfrm>
            <a:off x="5871046" y="2813298"/>
            <a:ext cx="3153966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endParaRPr lang="en-US" sz="550" dirty="0"/>
          </a:p>
        </p:txBody>
      </p:sp>
      <p:sp>
        <p:nvSpPr>
          <p:cNvPr id="76" name="Shape 74"/>
          <p:cNvSpPr/>
          <p:nvPr/>
        </p:nvSpPr>
        <p:spPr>
          <a:xfrm>
            <a:off x="500881" y="2934221"/>
            <a:ext cx="8142238" cy="14964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576337" y="2962945"/>
            <a:ext cx="1769790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Backend em staging</a:t>
            </a:r>
            <a:endParaRPr lang="en-US" sz="550" dirty="0"/>
          </a:p>
        </p:txBody>
      </p:sp>
      <p:sp>
        <p:nvSpPr>
          <p:cNvPr id="78" name="Text 76"/>
          <p:cNvSpPr/>
          <p:nvPr/>
        </p:nvSpPr>
        <p:spPr>
          <a:xfrm>
            <a:off x="2044303" y="2962945"/>
            <a:ext cx="1115988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Sem. 9</a:t>
            </a:r>
            <a:endParaRPr lang="en-US" sz="550" dirty="0"/>
          </a:p>
        </p:txBody>
      </p:sp>
      <p:sp>
        <p:nvSpPr>
          <p:cNvPr id="79" name="Text 77"/>
          <p:cNvSpPr/>
          <p:nvPr/>
        </p:nvSpPr>
        <p:spPr>
          <a:xfrm>
            <a:off x="2858467" y="2962945"/>
            <a:ext cx="3314402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API e autenticação operacionais</a:t>
            </a:r>
            <a:endParaRPr lang="en-US" sz="550" dirty="0"/>
          </a:p>
        </p:txBody>
      </p:sp>
      <p:sp>
        <p:nvSpPr>
          <p:cNvPr id="80" name="Text 78"/>
          <p:cNvSpPr/>
          <p:nvPr/>
        </p:nvSpPr>
        <p:spPr>
          <a:xfrm>
            <a:off x="5871046" y="2962945"/>
            <a:ext cx="3153966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Testes internos aprovados</a:t>
            </a:r>
            <a:endParaRPr lang="en-US" sz="550" dirty="0"/>
          </a:p>
        </p:txBody>
      </p:sp>
      <p:sp>
        <p:nvSpPr>
          <p:cNvPr id="81" name="Shape 79"/>
          <p:cNvSpPr/>
          <p:nvPr/>
        </p:nvSpPr>
        <p:spPr>
          <a:xfrm>
            <a:off x="500881" y="3083868"/>
            <a:ext cx="8142238" cy="14964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2" name="Text 80"/>
          <p:cNvSpPr/>
          <p:nvPr/>
        </p:nvSpPr>
        <p:spPr>
          <a:xfrm>
            <a:off x="576337" y="3112591"/>
            <a:ext cx="1769790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Fluxo de agendamento</a:t>
            </a:r>
            <a:endParaRPr lang="en-US" sz="550" dirty="0"/>
          </a:p>
        </p:txBody>
      </p:sp>
      <p:sp>
        <p:nvSpPr>
          <p:cNvPr id="83" name="Text 81"/>
          <p:cNvSpPr/>
          <p:nvPr/>
        </p:nvSpPr>
        <p:spPr>
          <a:xfrm>
            <a:off x="2044303" y="3112591"/>
            <a:ext cx="1115988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Sem. 11</a:t>
            </a:r>
            <a:endParaRPr lang="en-US" sz="550" dirty="0"/>
          </a:p>
        </p:txBody>
      </p:sp>
      <p:sp>
        <p:nvSpPr>
          <p:cNvPr id="84" name="Text 82"/>
          <p:cNvSpPr/>
          <p:nvPr/>
        </p:nvSpPr>
        <p:spPr>
          <a:xfrm>
            <a:off x="2858467" y="3112591"/>
            <a:ext cx="3314402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Busca → pagamento → confirmação E2E</a:t>
            </a:r>
            <a:endParaRPr lang="en-US" sz="550" dirty="0"/>
          </a:p>
        </p:txBody>
      </p:sp>
      <p:sp>
        <p:nvSpPr>
          <p:cNvPr id="85" name="Text 83"/>
          <p:cNvSpPr/>
          <p:nvPr/>
        </p:nvSpPr>
        <p:spPr>
          <a:xfrm>
            <a:off x="5871046" y="3112591"/>
            <a:ext cx="3153966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Cliente testa e aprova</a:t>
            </a:r>
            <a:endParaRPr lang="en-US" sz="550" dirty="0"/>
          </a:p>
        </p:txBody>
      </p:sp>
      <p:sp>
        <p:nvSpPr>
          <p:cNvPr id="86" name="Shape 84"/>
          <p:cNvSpPr/>
          <p:nvPr/>
        </p:nvSpPr>
        <p:spPr>
          <a:xfrm>
            <a:off x="500881" y="3233514"/>
            <a:ext cx="8142238" cy="14964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7" name="Text 85"/>
          <p:cNvSpPr/>
          <p:nvPr/>
        </p:nvSpPr>
        <p:spPr>
          <a:xfrm>
            <a:off x="576337" y="3262238"/>
            <a:ext cx="1769790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Integrações concluídas</a:t>
            </a:r>
            <a:endParaRPr lang="en-US" sz="550" dirty="0"/>
          </a:p>
        </p:txBody>
      </p:sp>
      <p:sp>
        <p:nvSpPr>
          <p:cNvPr id="88" name="Text 86"/>
          <p:cNvSpPr/>
          <p:nvPr/>
        </p:nvSpPr>
        <p:spPr>
          <a:xfrm>
            <a:off x="2044303" y="3262238"/>
            <a:ext cx="1115988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Sem. 12</a:t>
            </a:r>
            <a:endParaRPr lang="en-US" sz="550" dirty="0"/>
          </a:p>
        </p:txBody>
      </p:sp>
      <p:sp>
        <p:nvSpPr>
          <p:cNvPr id="89" name="Text 87"/>
          <p:cNvSpPr/>
          <p:nvPr/>
        </p:nvSpPr>
        <p:spPr>
          <a:xfrm>
            <a:off x="2858467" y="3262238"/>
            <a:ext cx="3314402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Pagar.me + Google Maps integrados</a:t>
            </a:r>
            <a:endParaRPr lang="en-US" sz="550" dirty="0"/>
          </a:p>
        </p:txBody>
      </p:sp>
      <p:sp>
        <p:nvSpPr>
          <p:cNvPr id="90" name="Text 88"/>
          <p:cNvSpPr/>
          <p:nvPr/>
        </p:nvSpPr>
        <p:spPr>
          <a:xfrm>
            <a:off x="5871046" y="3262238"/>
            <a:ext cx="3153966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Transação real aprovada</a:t>
            </a:r>
            <a:endParaRPr lang="en-US" sz="550" dirty="0"/>
          </a:p>
        </p:txBody>
      </p:sp>
      <p:sp>
        <p:nvSpPr>
          <p:cNvPr id="91" name="Shape 89"/>
          <p:cNvSpPr/>
          <p:nvPr/>
        </p:nvSpPr>
        <p:spPr>
          <a:xfrm>
            <a:off x="500881" y="3383161"/>
            <a:ext cx="8142238" cy="14964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2" name="Text 90"/>
          <p:cNvSpPr/>
          <p:nvPr/>
        </p:nvSpPr>
        <p:spPr>
          <a:xfrm>
            <a:off x="576337" y="3411885"/>
            <a:ext cx="1769790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Apps MVP funcionais</a:t>
            </a:r>
            <a:endParaRPr lang="en-US" sz="550" dirty="0"/>
          </a:p>
        </p:txBody>
      </p:sp>
      <p:sp>
        <p:nvSpPr>
          <p:cNvPr id="93" name="Text 91"/>
          <p:cNvSpPr/>
          <p:nvPr/>
        </p:nvSpPr>
        <p:spPr>
          <a:xfrm>
            <a:off x="2044303" y="3411885"/>
            <a:ext cx="1115988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Sem. 13</a:t>
            </a:r>
            <a:endParaRPr lang="en-US" sz="550" dirty="0"/>
          </a:p>
        </p:txBody>
      </p:sp>
      <p:sp>
        <p:nvSpPr>
          <p:cNvPr id="94" name="Text 92"/>
          <p:cNvSpPr/>
          <p:nvPr/>
        </p:nvSpPr>
        <p:spPr>
          <a:xfrm>
            <a:off x="2858467" y="3411885"/>
            <a:ext cx="3314402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Apps cliente e profissional completos</a:t>
            </a:r>
            <a:endParaRPr lang="en-US" sz="550" dirty="0"/>
          </a:p>
        </p:txBody>
      </p:sp>
      <p:sp>
        <p:nvSpPr>
          <p:cNvPr id="95" name="Text 93"/>
          <p:cNvSpPr/>
          <p:nvPr/>
        </p:nvSpPr>
        <p:spPr>
          <a:xfrm>
            <a:off x="5871046" y="3411885"/>
            <a:ext cx="3153966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Revisão com a cliente</a:t>
            </a:r>
            <a:endParaRPr lang="en-US" sz="550" dirty="0"/>
          </a:p>
        </p:txBody>
      </p:sp>
      <p:sp>
        <p:nvSpPr>
          <p:cNvPr id="96" name="Shape 94"/>
          <p:cNvSpPr/>
          <p:nvPr/>
        </p:nvSpPr>
        <p:spPr>
          <a:xfrm>
            <a:off x="500881" y="3532808"/>
            <a:ext cx="8142238" cy="14964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97" name="Text 95"/>
          <p:cNvSpPr/>
          <p:nvPr/>
        </p:nvSpPr>
        <p:spPr>
          <a:xfrm>
            <a:off x="576337" y="3561531"/>
            <a:ext cx="1769790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Painel admin operacional</a:t>
            </a:r>
            <a:endParaRPr lang="en-US" sz="550" dirty="0"/>
          </a:p>
        </p:txBody>
      </p:sp>
      <p:sp>
        <p:nvSpPr>
          <p:cNvPr id="98" name="Text 96"/>
          <p:cNvSpPr/>
          <p:nvPr/>
        </p:nvSpPr>
        <p:spPr>
          <a:xfrm>
            <a:off x="2044303" y="3561531"/>
            <a:ext cx="1115988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Sem. 14</a:t>
            </a:r>
            <a:endParaRPr lang="en-US" sz="550" dirty="0"/>
          </a:p>
        </p:txBody>
      </p:sp>
      <p:sp>
        <p:nvSpPr>
          <p:cNvPr id="99" name="Text 97"/>
          <p:cNvSpPr/>
          <p:nvPr/>
        </p:nvSpPr>
        <p:spPr>
          <a:xfrm>
            <a:off x="2858467" y="3561531"/>
            <a:ext cx="3314402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Painel web para gestão operacional</a:t>
            </a:r>
            <a:endParaRPr lang="en-US" sz="550" dirty="0"/>
          </a:p>
        </p:txBody>
      </p:sp>
      <p:sp>
        <p:nvSpPr>
          <p:cNvPr id="100" name="Text 98"/>
          <p:cNvSpPr/>
          <p:nvPr/>
        </p:nvSpPr>
        <p:spPr>
          <a:xfrm>
            <a:off x="5871046" y="3561531"/>
            <a:ext cx="3153966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Fluxo E2E aprovado</a:t>
            </a:r>
            <a:endParaRPr lang="en-US" sz="550" dirty="0"/>
          </a:p>
        </p:txBody>
      </p:sp>
      <p:sp>
        <p:nvSpPr>
          <p:cNvPr id="101" name="Shape 99"/>
          <p:cNvSpPr/>
          <p:nvPr/>
        </p:nvSpPr>
        <p:spPr>
          <a:xfrm>
            <a:off x="500881" y="3682454"/>
            <a:ext cx="8142238" cy="14964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2" name="Text 100"/>
          <p:cNvSpPr/>
          <p:nvPr/>
        </p:nvSpPr>
        <p:spPr>
          <a:xfrm>
            <a:off x="576337" y="3711178"/>
            <a:ext cx="1769790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Fase 4 — Testes &amp; Lançamento</a:t>
            </a:r>
            <a:endParaRPr lang="en-US" sz="550" dirty="0"/>
          </a:p>
        </p:txBody>
      </p:sp>
      <p:sp>
        <p:nvSpPr>
          <p:cNvPr id="103" name="Text 101"/>
          <p:cNvSpPr/>
          <p:nvPr/>
        </p:nvSpPr>
        <p:spPr>
          <a:xfrm>
            <a:off x="2044303" y="3711178"/>
            <a:ext cx="1115988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endParaRPr lang="en-US" sz="550" dirty="0"/>
          </a:p>
        </p:txBody>
      </p:sp>
      <p:sp>
        <p:nvSpPr>
          <p:cNvPr id="104" name="Text 102"/>
          <p:cNvSpPr/>
          <p:nvPr/>
        </p:nvSpPr>
        <p:spPr>
          <a:xfrm>
            <a:off x="2858467" y="3711178"/>
            <a:ext cx="3314402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endParaRPr lang="en-US" sz="550" dirty="0"/>
          </a:p>
        </p:txBody>
      </p:sp>
      <p:sp>
        <p:nvSpPr>
          <p:cNvPr id="105" name="Text 103"/>
          <p:cNvSpPr/>
          <p:nvPr/>
        </p:nvSpPr>
        <p:spPr>
          <a:xfrm>
            <a:off x="5871046" y="3711178"/>
            <a:ext cx="3153966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endParaRPr lang="en-US" sz="550" dirty="0"/>
          </a:p>
        </p:txBody>
      </p:sp>
      <p:sp>
        <p:nvSpPr>
          <p:cNvPr id="106" name="Shape 104"/>
          <p:cNvSpPr/>
          <p:nvPr/>
        </p:nvSpPr>
        <p:spPr>
          <a:xfrm>
            <a:off x="500881" y="3832101"/>
            <a:ext cx="8142238" cy="14964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07" name="Text 105"/>
          <p:cNvSpPr/>
          <p:nvPr/>
        </p:nvSpPr>
        <p:spPr>
          <a:xfrm>
            <a:off x="576337" y="3860825"/>
            <a:ext cx="1769790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Beta fechado</a:t>
            </a:r>
            <a:endParaRPr lang="en-US" sz="550" dirty="0"/>
          </a:p>
        </p:txBody>
      </p:sp>
      <p:sp>
        <p:nvSpPr>
          <p:cNvPr id="108" name="Text 106"/>
          <p:cNvSpPr/>
          <p:nvPr/>
        </p:nvSpPr>
        <p:spPr>
          <a:xfrm>
            <a:off x="2044303" y="3860825"/>
            <a:ext cx="1115988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Sem. 15</a:t>
            </a:r>
            <a:endParaRPr lang="en-US" sz="550" dirty="0"/>
          </a:p>
        </p:txBody>
      </p:sp>
      <p:sp>
        <p:nvSpPr>
          <p:cNvPr id="109" name="Text 107"/>
          <p:cNvSpPr/>
          <p:nvPr/>
        </p:nvSpPr>
        <p:spPr>
          <a:xfrm>
            <a:off x="2858467" y="3860825"/>
            <a:ext cx="3314402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20–30 usuários reais testando</a:t>
            </a:r>
            <a:endParaRPr lang="en-US" sz="550" dirty="0"/>
          </a:p>
        </p:txBody>
      </p:sp>
      <p:sp>
        <p:nvSpPr>
          <p:cNvPr id="110" name="Text 108"/>
          <p:cNvSpPr/>
          <p:nvPr/>
        </p:nvSpPr>
        <p:spPr>
          <a:xfrm>
            <a:off x="5871046" y="3860825"/>
            <a:ext cx="3153966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Conclusão ≥ 80%</a:t>
            </a:r>
            <a:endParaRPr lang="en-US" sz="550" dirty="0"/>
          </a:p>
        </p:txBody>
      </p:sp>
      <p:sp>
        <p:nvSpPr>
          <p:cNvPr id="111" name="Shape 109"/>
          <p:cNvSpPr/>
          <p:nvPr/>
        </p:nvSpPr>
        <p:spPr>
          <a:xfrm>
            <a:off x="500881" y="3981748"/>
            <a:ext cx="8142238" cy="14964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2" name="Text 110"/>
          <p:cNvSpPr/>
          <p:nvPr/>
        </p:nvSpPr>
        <p:spPr>
          <a:xfrm>
            <a:off x="576337" y="4010471"/>
            <a:ext cx="1769790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Bugs críticos corrigidos</a:t>
            </a:r>
            <a:endParaRPr lang="en-US" sz="550" dirty="0"/>
          </a:p>
        </p:txBody>
      </p:sp>
      <p:sp>
        <p:nvSpPr>
          <p:cNvPr id="113" name="Text 111"/>
          <p:cNvSpPr/>
          <p:nvPr/>
        </p:nvSpPr>
        <p:spPr>
          <a:xfrm>
            <a:off x="2044303" y="4010471"/>
            <a:ext cx="1115988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Sem. 16</a:t>
            </a:r>
            <a:endParaRPr lang="en-US" sz="550" dirty="0"/>
          </a:p>
        </p:txBody>
      </p:sp>
      <p:sp>
        <p:nvSpPr>
          <p:cNvPr id="114" name="Text 112"/>
          <p:cNvSpPr/>
          <p:nvPr/>
        </p:nvSpPr>
        <p:spPr>
          <a:xfrm>
            <a:off x="2858467" y="4010471"/>
            <a:ext cx="3314402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Relatório de bugs zerado (críticos)</a:t>
            </a:r>
            <a:endParaRPr lang="en-US" sz="550" dirty="0"/>
          </a:p>
        </p:txBody>
      </p:sp>
      <p:sp>
        <p:nvSpPr>
          <p:cNvPr id="115" name="Text 113"/>
          <p:cNvSpPr/>
          <p:nvPr/>
        </p:nvSpPr>
        <p:spPr>
          <a:xfrm>
            <a:off x="5871046" y="4010471"/>
            <a:ext cx="3153966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QA aprovado</a:t>
            </a:r>
            <a:endParaRPr lang="en-US" sz="550" dirty="0"/>
          </a:p>
        </p:txBody>
      </p:sp>
      <p:sp>
        <p:nvSpPr>
          <p:cNvPr id="116" name="Shape 114"/>
          <p:cNvSpPr/>
          <p:nvPr/>
        </p:nvSpPr>
        <p:spPr>
          <a:xfrm>
            <a:off x="500881" y="4131394"/>
            <a:ext cx="8142238" cy="14964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7" name="Text 115"/>
          <p:cNvSpPr/>
          <p:nvPr/>
        </p:nvSpPr>
        <p:spPr>
          <a:xfrm>
            <a:off x="576337" y="4160118"/>
            <a:ext cx="1769790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Assets de loja prontos</a:t>
            </a:r>
            <a:endParaRPr lang="en-US" sz="550" dirty="0"/>
          </a:p>
        </p:txBody>
      </p:sp>
      <p:sp>
        <p:nvSpPr>
          <p:cNvPr id="118" name="Text 116"/>
          <p:cNvSpPr/>
          <p:nvPr/>
        </p:nvSpPr>
        <p:spPr>
          <a:xfrm>
            <a:off x="2044303" y="4160118"/>
            <a:ext cx="1115988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Sem. 16</a:t>
            </a:r>
            <a:endParaRPr lang="en-US" sz="550" dirty="0"/>
          </a:p>
        </p:txBody>
      </p:sp>
      <p:sp>
        <p:nvSpPr>
          <p:cNvPr id="119" name="Text 117"/>
          <p:cNvSpPr/>
          <p:nvPr/>
        </p:nvSpPr>
        <p:spPr>
          <a:xfrm>
            <a:off x="2858467" y="4160118"/>
            <a:ext cx="3314402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Screenshots, textos e ícones</a:t>
            </a:r>
            <a:endParaRPr lang="en-US" sz="550" dirty="0"/>
          </a:p>
        </p:txBody>
      </p:sp>
      <p:sp>
        <p:nvSpPr>
          <p:cNvPr id="120" name="Text 118"/>
          <p:cNvSpPr/>
          <p:nvPr/>
        </p:nvSpPr>
        <p:spPr>
          <a:xfrm>
            <a:off x="5871046" y="4160118"/>
            <a:ext cx="3153966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Aprovação da cliente</a:t>
            </a:r>
            <a:endParaRPr lang="en-US" sz="550" dirty="0"/>
          </a:p>
        </p:txBody>
      </p:sp>
      <p:sp>
        <p:nvSpPr>
          <p:cNvPr id="121" name="Shape 119"/>
          <p:cNvSpPr/>
          <p:nvPr/>
        </p:nvSpPr>
        <p:spPr>
          <a:xfrm>
            <a:off x="500881" y="4281041"/>
            <a:ext cx="8142238" cy="14964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2" name="Text 120"/>
          <p:cNvSpPr/>
          <p:nvPr/>
        </p:nvSpPr>
        <p:spPr>
          <a:xfrm>
            <a:off x="576337" y="4309765"/>
            <a:ext cx="1769790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Submissão às lojas</a:t>
            </a:r>
            <a:endParaRPr lang="en-US" sz="550" dirty="0"/>
          </a:p>
        </p:txBody>
      </p:sp>
      <p:sp>
        <p:nvSpPr>
          <p:cNvPr id="123" name="Text 121"/>
          <p:cNvSpPr/>
          <p:nvPr/>
        </p:nvSpPr>
        <p:spPr>
          <a:xfrm>
            <a:off x="2044303" y="4309765"/>
            <a:ext cx="1115988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Sem. 17</a:t>
            </a:r>
            <a:endParaRPr lang="en-US" sz="550" dirty="0"/>
          </a:p>
        </p:txBody>
      </p:sp>
      <p:sp>
        <p:nvSpPr>
          <p:cNvPr id="124" name="Text 122"/>
          <p:cNvSpPr/>
          <p:nvPr/>
        </p:nvSpPr>
        <p:spPr>
          <a:xfrm>
            <a:off x="2858467" y="4309765"/>
            <a:ext cx="3314402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App enviado à App Store e Play Store</a:t>
            </a:r>
            <a:endParaRPr lang="en-US" sz="550" dirty="0"/>
          </a:p>
        </p:txBody>
      </p:sp>
      <p:sp>
        <p:nvSpPr>
          <p:cNvPr id="125" name="Text 123"/>
          <p:cNvSpPr/>
          <p:nvPr/>
        </p:nvSpPr>
        <p:spPr>
          <a:xfrm>
            <a:off x="5871046" y="4309765"/>
            <a:ext cx="3153966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Protocolo de submissão</a:t>
            </a:r>
            <a:endParaRPr lang="en-US" sz="550" dirty="0"/>
          </a:p>
        </p:txBody>
      </p:sp>
      <p:sp>
        <p:nvSpPr>
          <p:cNvPr id="126" name="Shape 124"/>
          <p:cNvSpPr/>
          <p:nvPr/>
        </p:nvSpPr>
        <p:spPr>
          <a:xfrm>
            <a:off x="500881" y="4430688"/>
            <a:ext cx="8142238" cy="14964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7" name="Text 125"/>
          <p:cNvSpPr/>
          <p:nvPr/>
        </p:nvSpPr>
        <p:spPr>
          <a:xfrm>
            <a:off x="576337" y="4459412"/>
            <a:ext cx="1769790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🚀</a:t>
            </a:r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Lançamento público</a:t>
            </a:r>
            <a:endParaRPr lang="en-US" sz="550" dirty="0"/>
          </a:p>
        </p:txBody>
      </p:sp>
      <p:sp>
        <p:nvSpPr>
          <p:cNvPr id="128" name="Text 126"/>
          <p:cNvSpPr/>
          <p:nvPr/>
        </p:nvSpPr>
        <p:spPr>
          <a:xfrm>
            <a:off x="2044303" y="4459412"/>
            <a:ext cx="1115988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Sem. 17</a:t>
            </a:r>
            <a:endParaRPr lang="en-US" sz="550" dirty="0"/>
          </a:p>
        </p:txBody>
      </p:sp>
      <p:sp>
        <p:nvSpPr>
          <p:cNvPr id="129" name="Text 127"/>
          <p:cNvSpPr/>
          <p:nvPr/>
        </p:nvSpPr>
        <p:spPr>
          <a:xfrm>
            <a:off x="2858467" y="4459412"/>
            <a:ext cx="3314402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App disponível publicamente</a:t>
            </a:r>
            <a:endParaRPr lang="en-US" sz="550" dirty="0"/>
          </a:p>
        </p:txBody>
      </p:sp>
      <p:sp>
        <p:nvSpPr>
          <p:cNvPr id="130" name="Text 128"/>
          <p:cNvSpPr/>
          <p:nvPr/>
        </p:nvSpPr>
        <p:spPr>
          <a:xfrm>
            <a:off x="5871046" y="4459412"/>
            <a:ext cx="3153966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Disponível nas lojas</a:t>
            </a:r>
            <a:endParaRPr lang="en-US" sz="550" dirty="0"/>
          </a:p>
        </p:txBody>
      </p:sp>
      <p:sp>
        <p:nvSpPr>
          <p:cNvPr id="131" name="Shape 129"/>
          <p:cNvSpPr/>
          <p:nvPr/>
        </p:nvSpPr>
        <p:spPr>
          <a:xfrm>
            <a:off x="500881" y="4580334"/>
            <a:ext cx="8142238" cy="14964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2" name="Text 130"/>
          <p:cNvSpPr/>
          <p:nvPr/>
        </p:nvSpPr>
        <p:spPr>
          <a:xfrm>
            <a:off x="576337" y="4609058"/>
            <a:ext cx="1769790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Relatório pós-lançamento</a:t>
            </a:r>
            <a:endParaRPr lang="en-US" sz="550" dirty="0"/>
          </a:p>
        </p:txBody>
      </p:sp>
      <p:sp>
        <p:nvSpPr>
          <p:cNvPr id="133" name="Text 131"/>
          <p:cNvSpPr/>
          <p:nvPr/>
        </p:nvSpPr>
        <p:spPr>
          <a:xfrm>
            <a:off x="2044303" y="4609058"/>
            <a:ext cx="1115988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+30 dias</a:t>
            </a:r>
            <a:endParaRPr lang="en-US" sz="550" dirty="0"/>
          </a:p>
        </p:txBody>
      </p:sp>
      <p:sp>
        <p:nvSpPr>
          <p:cNvPr id="134" name="Text 132"/>
          <p:cNvSpPr/>
          <p:nvPr/>
        </p:nvSpPr>
        <p:spPr>
          <a:xfrm>
            <a:off x="2858467" y="4609058"/>
            <a:ext cx="3314402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Métricas dos primeiros 30 dias</a:t>
            </a:r>
            <a:endParaRPr lang="en-US" sz="550" dirty="0"/>
          </a:p>
        </p:txBody>
      </p:sp>
      <p:sp>
        <p:nvSpPr>
          <p:cNvPr id="135" name="Text 133"/>
          <p:cNvSpPr/>
          <p:nvPr/>
        </p:nvSpPr>
        <p:spPr>
          <a:xfrm>
            <a:off x="5871046" y="4609058"/>
            <a:ext cx="3153966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Apresentação ao time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2100" y="0"/>
            <a:ext cx="37719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438373"/>
            <a:ext cx="898327" cy="158055"/>
          </a:xfrm>
          <a:prstGeom prst="roundRect">
            <a:avLst>
              <a:gd name="adj" fmla="val 22132"/>
            </a:avLst>
          </a:prstGeom>
          <a:solidFill>
            <a:srgbClr val="262626"/>
          </a:solidFill>
          <a:ln/>
        </p:spPr>
      </p:sp>
      <p:sp>
        <p:nvSpPr>
          <p:cNvPr id="4" name="Text 1"/>
          <p:cNvSpPr/>
          <p:nvPr/>
        </p:nvSpPr>
        <p:spPr>
          <a:xfrm>
            <a:off x="558552" y="469553"/>
            <a:ext cx="1230660" cy="95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PARTE 1 · REUNIÕES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496119" y="626938"/>
            <a:ext cx="4722763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Calendário de Acompanhamento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96119" y="1066949"/>
            <a:ext cx="4722763" cy="780008"/>
          </a:xfrm>
          <a:prstGeom prst="roundRect">
            <a:avLst>
              <a:gd name="adj" fmla="val 5606"/>
            </a:avLst>
          </a:prstGeom>
          <a:solidFill>
            <a:srgbClr val="181616">
              <a:alpha val="95000"/>
            </a:srgbClr>
          </a:solidFill>
          <a:ln w="14288">
            <a:solidFill>
              <a:srgbClr val="59595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4511" y="1185342"/>
            <a:ext cx="4485977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Check-in Semanal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14511" y="1393850"/>
            <a:ext cx="4485977" cy="334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spcAft>
                <a:spcPts val="350"/>
              </a:spcAft>
              <a:buNone/>
            </a:pPr>
            <a:r>
              <a:rPr lang="en-US" sz="80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Toda semana · 30 min · Videochamada</a:t>
            </a:r>
            <a:endParaRPr lang="en-US" sz="8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 que foi feito, o que vem e bloqueios. Time + cliente. Atualização de status.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96119" y="1923380"/>
            <a:ext cx="4722763" cy="924446"/>
          </a:xfrm>
          <a:prstGeom prst="roundRect">
            <a:avLst>
              <a:gd name="adj" fmla="val 4730"/>
            </a:avLst>
          </a:prstGeom>
          <a:solidFill>
            <a:srgbClr val="181616">
              <a:alpha val="95000"/>
            </a:srgbClr>
          </a:solidFill>
          <a:ln w="14288">
            <a:solidFill>
              <a:srgbClr val="59595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4511" y="2041773"/>
            <a:ext cx="4485977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Revisão de Fase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14511" y="2250281"/>
            <a:ext cx="4485977" cy="47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spcAft>
                <a:spcPts val="350"/>
              </a:spcAft>
              <a:buNone/>
            </a:pPr>
            <a:r>
              <a:rPr lang="en-US" sz="80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Fim de cada fase · 1h30–2h · Ao vivo</a:t>
            </a:r>
            <a:endParaRPr lang="en-US" sz="8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Revisão de marcos, demo e aprovação formal documentada antes de avançar. Time completo + cliente.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96119" y="2924249"/>
            <a:ext cx="4722763" cy="924446"/>
          </a:xfrm>
          <a:prstGeom prst="roundRect">
            <a:avLst>
              <a:gd name="adj" fmla="val 4730"/>
            </a:avLst>
          </a:prstGeom>
          <a:solidFill>
            <a:srgbClr val="181616">
              <a:alpha val="95000"/>
            </a:srgbClr>
          </a:solidFill>
          <a:ln w="14288">
            <a:solidFill>
              <a:srgbClr val="59595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4511" y="3042642"/>
            <a:ext cx="4485977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Demonstrativo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14511" y="3251150"/>
            <a:ext cx="4485977" cy="47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spcAft>
                <a:spcPts val="350"/>
              </a:spcAft>
              <a:buNone/>
            </a:pPr>
            <a:r>
              <a:rPr lang="en-US" sz="80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Semanas 12–13 · 1h</a:t>
            </a:r>
            <a:endParaRPr lang="en-US" sz="8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Cliente testa o fluxo completo: buscar → agendar → pagar → confirmar. Feedback antes do polish final.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96119" y="3925119"/>
            <a:ext cx="4722763" cy="780008"/>
          </a:xfrm>
          <a:prstGeom prst="roundRect">
            <a:avLst>
              <a:gd name="adj" fmla="val 5606"/>
            </a:avLst>
          </a:prstGeom>
          <a:solidFill>
            <a:srgbClr val="181616">
              <a:alpha val="95000"/>
            </a:srgbClr>
          </a:solidFill>
          <a:ln w="14288">
            <a:solidFill>
              <a:srgbClr val="59595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4511" y="4043511"/>
            <a:ext cx="4485977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Retrospectiva Pós-Lançamento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14511" y="4252020"/>
            <a:ext cx="4485977" cy="334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spcAft>
                <a:spcPts val="350"/>
              </a:spcAft>
              <a:buNone/>
            </a:pPr>
            <a:r>
              <a:rPr lang="en-US" sz="80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30 dias após lançamento · 1h</a:t>
            </a:r>
            <a:endParaRPr lang="en-US" sz="8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Revisão de métricas: agendamentos, usuários, conversão e erros. Prioridades para a versão 2.0.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7268"/>
            <a:ext cx="1213396" cy="151358"/>
          </a:xfrm>
          <a:prstGeom prst="roundRect">
            <a:avLst>
              <a:gd name="adj" fmla="val 22128"/>
            </a:avLst>
          </a:prstGeom>
          <a:solidFill>
            <a:srgbClr val="262626"/>
          </a:solidFill>
          <a:ln/>
        </p:spPr>
      </p:sp>
      <p:sp>
        <p:nvSpPr>
          <p:cNvPr id="3" name="Text 1"/>
          <p:cNvSpPr/>
          <p:nvPr/>
        </p:nvSpPr>
        <p:spPr>
          <a:xfrm>
            <a:off x="555873" y="437108"/>
            <a:ext cx="1551087" cy="91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PARTE 2 · IDENTIDADE VISUAL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96119" y="586606"/>
            <a:ext cx="8151763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 Filosofia por Trás da Marca</a:t>
            </a:r>
            <a:endParaRPr lang="en-US" sz="1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081980"/>
            <a:ext cx="5213524" cy="29543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57590" y="2219623"/>
            <a:ext cx="2694980" cy="679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BelaGo parece</a:t>
            </a:r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uma marca que une tecnologia e beleza com elegância e proximidade. O gradiente Rose → Violet comunica feminilidade moderna e sofisticação digital. A Georgia Itálica no logo traz personalidade e confiança — uma marca que você reconhece de imediato.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496119" y="4193902"/>
            <a:ext cx="2670572" cy="542330"/>
          </a:xfrm>
          <a:prstGeom prst="roundRect">
            <a:avLst>
              <a:gd name="adj" fmla="val 7720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0521" y="4298305"/>
            <a:ext cx="2461766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Simples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00521" y="4496023"/>
            <a:ext cx="2461766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Agendar em menos de 60 segundos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236714" y="4193902"/>
            <a:ext cx="2670572" cy="542330"/>
          </a:xfrm>
          <a:prstGeom prst="roundRect">
            <a:avLst>
              <a:gd name="adj" fmla="val 7720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41117" y="4298305"/>
            <a:ext cx="2461766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Lucrativo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341117" y="4496023"/>
            <a:ext cx="2461766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Gera cliente real, não só exposição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5977310" y="4193902"/>
            <a:ext cx="2670572" cy="542330"/>
          </a:xfrm>
          <a:prstGeom prst="roundRect">
            <a:avLst>
              <a:gd name="adj" fmla="val 7720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81713" y="4298305"/>
            <a:ext cx="2461766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Seguro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081713" y="4496023"/>
            <a:ext cx="2461766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Identidade verificada, pagamento protegido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2208"/>
            <a:ext cx="1477640" cy="205234"/>
          </a:xfrm>
          <a:prstGeom prst="roundRect">
            <a:avLst>
              <a:gd name="adj" fmla="val 22122"/>
            </a:avLst>
          </a:prstGeom>
          <a:noFill/>
          <a:ln w="4763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7155" y="442689"/>
            <a:ext cx="1772766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PARTE 2 · SISTEMA VISUAL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658937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Paleta de Cores &amp; Tipografia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496119" y="1403152"/>
            <a:ext cx="391105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Sistema de Cores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7069" y="1740098"/>
            <a:ext cx="1894061" cy="1222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9280" y="1759148"/>
            <a:ext cx="1701850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Rose #E8448A → Violet #9B5DE5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69280" y="2310110"/>
            <a:ext cx="1701850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Gradiente principal. Botões de ação, splash screen e identidade da marca.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13037" y="1740098"/>
            <a:ext cx="1894136" cy="1222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05249" y="1759148"/>
            <a:ext cx="1701924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Teal Spark #0DC5A8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705249" y="2310110"/>
            <a:ext cx="1701924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Confirmações e sucesso. Ex: "Agendamento confirmado com sucesso!"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7069" y="3181945"/>
            <a:ext cx="1894061" cy="14335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69280" y="3200995"/>
            <a:ext cx="1701850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Amber Flash #F5A623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69280" y="3751957"/>
            <a:ext cx="1701850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Urgência e promoções. Ex: "Oferta relâmpago — última vaga hoje!"</a:t>
            </a:r>
            <a:endParaRPr lang="en-US" sz="10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13037" y="3181945"/>
            <a:ext cx="1894136" cy="143351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705249" y="3200995"/>
            <a:ext cx="1701924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Plum Night #1A0E1B &amp; Blush White #FEFCFD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2705249" y="3963070"/>
            <a:ext cx="1701924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Texto principal e fundo claro com calor rosado — nunca branco puro.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4741590" y="1403152"/>
            <a:ext cx="391105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Tipografia</a:t>
            </a:r>
            <a:endParaRPr lang="en-US" sz="13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41590" y="1759148"/>
            <a:ext cx="1891159" cy="191474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971901" y="1913260"/>
            <a:ext cx="150673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Georgia Itálica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4971901" y="2253109"/>
            <a:ext cx="1506736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Logo e títulos de marca. Sempre sozinha ou ao lado de sans-serif — nunca com outra serif.</a:t>
            </a:r>
            <a:endParaRPr lang="en-US" sz="10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61485" y="1759148"/>
            <a:ext cx="1891159" cy="191474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991796" y="1913260"/>
            <a:ext cx="1506736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DM Sans / System UI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6991796" y="2464222"/>
            <a:ext cx="1506736" cy="1055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Toda a interface: Regular 400 (corpo), Semibold 600 (subtítulos), Bold 700 (destaques).</a:t>
            </a:r>
            <a:endParaRPr lang="en-US" sz="1050" dirty="0"/>
          </a:p>
        </p:txBody>
      </p:sp>
      <p:sp>
        <p:nvSpPr>
          <p:cNvPr id="25" name="Shape 17"/>
          <p:cNvSpPr/>
          <p:nvPr/>
        </p:nvSpPr>
        <p:spPr>
          <a:xfrm>
            <a:off x="4741590" y="3818781"/>
            <a:ext cx="3911054" cy="721370"/>
          </a:xfrm>
          <a:prstGeom prst="roundRect">
            <a:avLst>
              <a:gd name="adj" fmla="val 7867"/>
            </a:avLst>
          </a:prstGeom>
          <a:solidFill>
            <a:srgbClr val="404040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76651" y="4021708"/>
            <a:ext cx="168846" cy="13506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180558" y="3968353"/>
            <a:ext cx="3337024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Regra de ouro: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jamais usar Alert Red próximo ao Rose — conflito visual que compromete a legibilidade.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2100" y="0"/>
            <a:ext cx="37719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444103"/>
            <a:ext cx="1028626" cy="168250"/>
          </a:xfrm>
          <a:prstGeom prst="roundRect">
            <a:avLst>
              <a:gd name="adj" fmla="val 22118"/>
            </a:avLst>
          </a:prstGeom>
          <a:solidFill>
            <a:srgbClr val="262626"/>
          </a:solidFill>
          <a:ln/>
        </p:spPr>
      </p:sp>
      <p:sp>
        <p:nvSpPr>
          <p:cNvPr id="4" name="Text 1"/>
          <p:cNvSpPr/>
          <p:nvPr/>
        </p:nvSpPr>
        <p:spPr>
          <a:xfrm>
            <a:off x="562570" y="477292"/>
            <a:ext cx="1352922" cy="101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PARTE 2 · LOGO &amp; VOZ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496119" y="646956"/>
            <a:ext cx="472276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Logotipo, Variantes e Voz da Marca</a:t>
            </a:r>
            <a:endParaRPr lang="en-US" sz="2150" dirty="0"/>
          </a:p>
        </p:txBody>
      </p:sp>
      <p:sp>
        <p:nvSpPr>
          <p:cNvPr id="6" name="Shape 3"/>
          <p:cNvSpPr/>
          <p:nvPr/>
        </p:nvSpPr>
        <p:spPr>
          <a:xfrm>
            <a:off x="496119" y="1122834"/>
            <a:ext cx="4722763" cy="613618"/>
          </a:xfrm>
          <a:prstGeom prst="roundRect">
            <a:avLst>
              <a:gd name="adj" fmla="val 7581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1609" y="1238324"/>
            <a:ext cx="4491782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Gradiente sobre claro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11609" y="1463204"/>
            <a:ext cx="4491782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Uso principal no app e telas internas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96119" y="1822921"/>
            <a:ext cx="4722763" cy="613618"/>
          </a:xfrm>
          <a:prstGeom prst="roundRect">
            <a:avLst>
              <a:gd name="adj" fmla="val 7581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1609" y="1938412"/>
            <a:ext cx="4491782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Gradiente sobre escuro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11609" y="2163291"/>
            <a:ext cx="4491782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Splash screen, banners e dark mode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96119" y="2523009"/>
            <a:ext cx="4722763" cy="613618"/>
          </a:xfrm>
          <a:prstGeom prst="roundRect">
            <a:avLst>
              <a:gd name="adj" fmla="val 7581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1609" y="2638499"/>
            <a:ext cx="4491782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Monocromático Rose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11609" y="2863379"/>
            <a:ext cx="4491782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Materiais de marketing impresso e digital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96119" y="3223096"/>
            <a:ext cx="4722763" cy="613618"/>
          </a:xfrm>
          <a:prstGeom prst="roundRect">
            <a:avLst>
              <a:gd name="adj" fmla="val 7581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1609" y="3338587"/>
            <a:ext cx="4491782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Reverso branco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11609" y="3563466"/>
            <a:ext cx="4491782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Crachás e materiais sobre fundo colorido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96119" y="3934048"/>
            <a:ext cx="5179963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Voz da marca: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Próxima · Direta · Confiável · Animada · Sofisticada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96119" y="4189140"/>
            <a:ext cx="14288" cy="510183"/>
          </a:xfrm>
          <a:prstGeom prst="roundRect">
            <a:avLst>
              <a:gd name="adj" fmla="val 59998"/>
            </a:avLst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662211" y="4286473"/>
            <a:ext cx="4556671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Certo: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"Fernanda está disponível hoje às 18h. Confirmar?"</a:t>
            </a:r>
            <a:endParaRPr lang="en-US" sz="850" dirty="0"/>
          </a:p>
          <a:p>
            <a:pPr algn="l" indent="0" marL="0">
              <a:lnSpc>
                <a:spcPct val="119000"/>
              </a:lnSpc>
              <a:buNone/>
            </a:pPr>
            <a:r>
              <a:rPr lang="en-US" sz="85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Errado: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"Sua solicitação foi processada com sucesso."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90203"/>
            <a:ext cx="1691804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832693"/>
            <a:ext cx="197889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PARTE 2 · PRÓXIMOS PASSOS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06226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O Que Produziremos nas Semanas 5–8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17849"/>
            <a:ext cx="838200" cy="5179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2413025"/>
            <a:ext cx="190500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Design System no Figma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6119" y="2940993"/>
            <a:ext cx="190500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Componentes, tokens e biblioteca de ícones — base de toda a UI do app.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298" y="1717849"/>
            <a:ext cx="838200" cy="5179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578298" y="2413025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UI High-Fidelity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2578298" y="2719536"/>
            <a:ext cx="19050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Todas as telas do fluxo MVP — cliente e profissional — prontas para desenvolvimento.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553" y="1717849"/>
            <a:ext cx="838200" cy="51799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660553" y="2413025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Assets de Loja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4660553" y="2719536"/>
            <a:ext cx="19050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Screenshots, ícones e textos para App Store e Play Store nos tamanhos exigidos.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807" y="1717849"/>
            <a:ext cx="838200" cy="51799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42807" y="2413025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Kit de Marca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6742807" y="2719536"/>
            <a:ext cx="19050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Fontes, cores e logos para a cliente usar em redes sociais e materiais próprios.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496119" y="3786262"/>
            <a:ext cx="8151763" cy="566961"/>
          </a:xfrm>
          <a:prstGeom prst="roundRect">
            <a:avLst>
              <a:gd name="adj" fmla="val 10502"/>
            </a:avLst>
          </a:prstGeom>
          <a:solidFill>
            <a:srgbClr val="404040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877" y="3987031"/>
            <a:ext cx="177180" cy="141759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56816" y="3963442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 que você sente faltando? Tem algo na identidade que não parece o BelaGo que você imaginou?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638547" cy="107603"/>
          </a:xfrm>
          <a:prstGeom prst="roundRect">
            <a:avLst>
              <a:gd name="adj" fmla="val 22134"/>
            </a:avLst>
          </a:prstGeom>
          <a:solidFill>
            <a:srgbClr val="262626"/>
          </a:solidFill>
          <a:ln/>
        </p:spPr>
      </p:sp>
      <p:sp>
        <p:nvSpPr>
          <p:cNvPr id="3" name="Text 1"/>
          <p:cNvSpPr/>
          <p:nvPr/>
        </p:nvSpPr>
        <p:spPr>
          <a:xfrm>
            <a:off x="538609" y="411063"/>
            <a:ext cx="1010766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PARTE 3 · DISCOVERY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Perguntas para a Sessão de Discovery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365921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Objetivo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496119" y="2512070"/>
            <a:ext cx="444661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Entender o negócio, os usuários e as restrições reais — para entregar o produto certo, não um produto genérico.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496119" y="2628974"/>
            <a:ext cx="3989412" cy="669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Negócio &amp; Receita: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comissão, metas e operação existente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Usuários &amp; Personas: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perfil da profissional e da cliente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Funcionalidades MVP: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o que é obrigatório vs. o que pode esperar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Tecnologia: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contas, integrações e infraestrutura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Design: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logo, referências e tom de marca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Prazos &amp; Orçamento: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datas, milestones e suporte pós-launch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Legal &amp; Compliance: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LGPD, termos e relação com profissionais</a:t>
            </a:r>
            <a:endParaRPr lang="en-US" sz="5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232" y="825996"/>
            <a:ext cx="3989412" cy="39894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7719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443731"/>
            <a:ext cx="750317" cy="151358"/>
          </a:xfrm>
          <a:prstGeom prst="roundRect">
            <a:avLst>
              <a:gd name="adj" fmla="val 22128"/>
            </a:avLst>
          </a:prstGeom>
          <a:solidFill>
            <a:srgbClr val="262626"/>
          </a:solidFill>
          <a:ln/>
        </p:spPr>
      </p:sp>
      <p:sp>
        <p:nvSpPr>
          <p:cNvPr id="4" name="Text 1"/>
          <p:cNvSpPr/>
          <p:nvPr/>
        </p:nvSpPr>
        <p:spPr>
          <a:xfrm>
            <a:off x="3984873" y="473571"/>
            <a:ext cx="1088008" cy="91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ENCERRAMENTO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3925119" y="623069"/>
            <a:ext cx="4722763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Próximos Passos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3925119" y="1039639"/>
            <a:ext cx="4722763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Estas perguntas são para entregar o produto certo — não para complicar. Quanto mais alinhados agora, menos retrabalho durante o desenvolvimento.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3925119" y="1390055"/>
            <a:ext cx="199355" cy="124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8F8F8F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01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3925119" y="1545059"/>
            <a:ext cx="4722763" cy="14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3925119" y="1623417"/>
            <a:ext cx="4722763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Revisão do Cronograma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925119" y="1821135"/>
            <a:ext cx="4722763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Confirme datas, marcos e responsáveis. Ajustes são bem-vindos agora.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3925119" y="2101676"/>
            <a:ext cx="199355" cy="124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8F8F8F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02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3925119" y="2256681"/>
            <a:ext cx="4722763" cy="14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3925119" y="2335039"/>
            <a:ext cx="4722763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Sessão de Discovery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925119" y="2532757"/>
            <a:ext cx="4722763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Responda às perguntas das 7 categorias. Reserve 1h30 para esta conversa.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3925119" y="2813298"/>
            <a:ext cx="199355" cy="124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8F8F8F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03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3925119" y="2968303"/>
            <a:ext cx="4722763" cy="14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3925119" y="3046661"/>
            <a:ext cx="4722763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Aprovação da Identidade Visual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925119" y="3244379"/>
            <a:ext cx="4722763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Valide paleta, tipografia e voz da marca antes das semanas 5–8.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3925119" y="3524920"/>
            <a:ext cx="199355" cy="124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8F8F8F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04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3925119" y="3679924"/>
            <a:ext cx="4722763" cy="14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8"/>
          <p:cNvSpPr/>
          <p:nvPr/>
        </p:nvSpPr>
        <p:spPr>
          <a:xfrm>
            <a:off x="3925119" y="3758282"/>
            <a:ext cx="4722763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Kickoff Oficial — Semana 1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3925119" y="3956000"/>
            <a:ext cx="4722763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Alinhamento de visão, escopo e início formal do projeto.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3925119" y="4245322"/>
            <a:ext cx="4722763" cy="454372"/>
          </a:xfrm>
          <a:prstGeom prst="roundRect">
            <a:avLst>
              <a:gd name="adj" fmla="val 9214"/>
            </a:avLst>
          </a:prstGeom>
          <a:solidFill>
            <a:srgbClr val="404040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4759" y="4377854"/>
            <a:ext cx="124569" cy="9964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248969" y="4340200"/>
            <a:ext cx="4299272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Dúvidas sobre o cronograma, a identidade ou as perguntas de discovery? Este é o momento ideal para levantar — estamos aqui para construir juntos.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2026-07-14T16:31:26Z</dcterms:created>
  <dcterms:modified xsi:type="dcterms:W3CDTF">2026-07-14T16:31:26Z</dcterms:modified>
</cp:coreProperties>
</file>